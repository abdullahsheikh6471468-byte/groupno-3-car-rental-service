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bookmarkIdSeed="2">
  <p:sldMasterIdLst>
    <p:sldMasterId id="2147483648" r:id="rId1"/>
  </p:sldMasterIdLst>
  <p:notesMasterIdLst>
    <p:notesMasterId r:id="rId20"/>
  </p:notesMasterIdLst>
  <p:sldIdLst>
    <p:sldId id="256" r:id="rId2"/>
    <p:sldId id="261" r:id="rId3"/>
    <p:sldId id="262" r:id="rId4"/>
    <p:sldId id="263" r:id="rId5"/>
    <p:sldId id="264" r:id="rId6"/>
    <p:sldId id="265" r:id="rId7"/>
    <p:sldId id="266" r:id="rId8"/>
    <p:sldId id="267" r:id="rId9"/>
    <p:sldId id="268" r:id="rId10"/>
    <p:sldId id="275" r:id="rId11"/>
    <p:sldId id="276" r:id="rId12"/>
    <p:sldId id="277" r:id="rId13"/>
    <p:sldId id="278" r:id="rId14"/>
    <p:sldId id="279" r:id="rId15"/>
    <p:sldId id="280" r:id="rId16"/>
    <p:sldId id="281" r:id="rId17"/>
    <p:sldId id="282" r:id="rId18"/>
    <p:sldId id="287" r:id="rId1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800000"/>
    <a:srgbClr val="99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3510" autoAdjust="0"/>
    <p:restoredTop sz="94660"/>
  </p:normalViewPr>
  <p:slideViewPr>
    <p:cSldViewPr snapToGrid="0">
      <p:cViewPr>
        <p:scale>
          <a:sx n="51" d="100"/>
          <a:sy n="51" d="100"/>
        </p:scale>
        <p:origin x="1312" y="2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DC3DDCC-ED81-4892-8D22-592A1E74472D}" type="datetimeFigureOut">
              <a:rPr lang="en-GB" smtClean="0"/>
              <a:t>03/01/2026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1EE3700-971C-4E22-9AF5-9F3C4C92A2C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660689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1EE3700-971C-4E22-9AF5-9F3C4C92A2CD}" type="slidenum">
              <a:rPr lang="en-GB" smtClean="0"/>
              <a:t>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64150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CCF23B-1DAC-BD9B-1140-B593C565F2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E860DD6-9B85-3D1A-4033-9C212C71F8B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E37EEA6-2B9C-06AE-E83F-98DC8D51ECC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AFD15D2-EE9C-2451-BBBF-0EF800D6C8A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1EE3700-971C-4E22-9AF5-9F3C4C92A2CD}" type="slidenum">
              <a:rPr lang="en-GB" smtClean="0"/>
              <a:t>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2505857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9385DD-42E6-EE78-E950-51F9C36EFEB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EB2116F-DEAA-547B-9CD3-5E9B87694C7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88CC7F5-0B17-C02E-4856-81392EB98C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F902D8-50AF-4053-B964-F981F7E0F83E}" type="datetimeFigureOut">
              <a:rPr lang="en-GB" smtClean="0"/>
              <a:t>03/01/2026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FA0658E-B7EB-4CD8-11FF-C30A4A0915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D832560-3533-600C-57FA-5509CECE31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C9B8E2-34A1-45EE-BF95-CC9A7BD9DA3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39737245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0A1C9E-8DBD-50E6-6FB7-E069D643DD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1D9C04-412A-DE22-08CB-F55094A9F48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C6F96D-1B01-B697-A54B-4FA2B5F3B8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F902D8-50AF-4053-B964-F981F7E0F83E}" type="datetimeFigureOut">
              <a:rPr lang="en-GB" smtClean="0"/>
              <a:t>03/01/2026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453404-C898-E7F8-49FF-1262A2B0F6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6189344-191B-4FBC-58EF-2EE7FB8737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C9B8E2-34A1-45EE-BF95-CC9A7BD9DA3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5201840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399C3C-4B13-07D4-D38D-A744E151F4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8A2B961-341A-4617-383D-6589A756BB1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E69821D-E155-4092-ED27-B9E96E885F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F902D8-50AF-4053-B964-F981F7E0F83E}" type="datetimeFigureOut">
              <a:rPr lang="en-GB" smtClean="0"/>
              <a:t>03/01/2026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EB9A0D4-5C72-2E82-47A3-F84AABDD07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BF83D1-7766-FDCC-F324-84A5DC22EE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C9B8E2-34A1-45EE-BF95-CC9A7BD9DA3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53415971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89B4FD-5E77-21A1-9EF8-39C2DEA1B5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34CD20-E9F7-F39E-563C-792CE76108B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1A926D5-83D6-1B8E-C407-BFA45077DD0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A655E20-27BC-AF3B-C6B7-F039CE865A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F902D8-50AF-4053-B964-F981F7E0F83E}" type="datetimeFigureOut">
              <a:rPr lang="en-GB" smtClean="0"/>
              <a:t>03/01/2026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850FE25-1676-2F21-C9B2-1A19B8F7B7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0189018-5076-FBC3-B162-0BE984C37D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C9B8E2-34A1-45EE-BF95-CC9A7BD9DA3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06487690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EC33C3-D41D-4707-705F-77A3FB8E4F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892DFB4-714A-4FCB-0C5D-C614F388A8E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06A74E5-DF19-EF27-FBCE-F48DC2DE8DB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0A45BFC-BC7B-434F-0805-EA29F630E55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6E75919-E34E-22A8-40F0-4B10BE27D32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D32C900-6095-0D90-074C-C620149431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F902D8-50AF-4053-B964-F981F7E0F83E}" type="datetimeFigureOut">
              <a:rPr lang="en-GB" smtClean="0"/>
              <a:t>03/01/2026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0B6D259-C81E-E33B-A82D-C933E48771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AE7DB0E-0BEE-45BD-B12D-69CBEE6940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C9B8E2-34A1-45EE-BF95-CC9A7BD9DA3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7565462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B859DF-5492-14F3-AF5F-2FFA0FA783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047B240-A9D9-8281-3509-A21AA849AC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F902D8-50AF-4053-B964-F981F7E0F83E}" type="datetimeFigureOut">
              <a:rPr lang="en-GB" smtClean="0"/>
              <a:t>03/01/2026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F8F0C25-C849-8CFC-45D3-EB45D0B462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6E2EA1A-762F-CC9F-A068-40B9F86EDF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C9B8E2-34A1-45EE-BF95-CC9A7BD9DA3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94276021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6AF8647-C7AE-8146-D5E7-4B8DCFD2CE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F902D8-50AF-4053-B964-F981F7E0F83E}" type="datetimeFigureOut">
              <a:rPr lang="en-GB" smtClean="0"/>
              <a:t>03/01/2026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2DC857C-8AC3-C686-F1C2-8A1058A276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7227614-11B7-0D63-B024-BBFB5131D4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C9B8E2-34A1-45EE-BF95-CC9A7BD9DA3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71231143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26F3D1-F690-015D-DE90-EAABC0FE2F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7248DB-CCBD-6C2A-25C8-2A6FDF13B8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F9B55D4-CA0B-1194-7C00-1C6E73FF0CA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E0D26A8-AAF5-F523-1008-4715278E7C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F902D8-50AF-4053-B964-F981F7E0F83E}" type="datetimeFigureOut">
              <a:rPr lang="en-GB" smtClean="0"/>
              <a:t>03/01/2026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496BC7C-5DF0-9A16-7972-8E331D15E5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D77809D-C190-DA4C-ABBC-A8F7827706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C9B8E2-34A1-45EE-BF95-CC9A7BD9DA3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42346896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4737F6-0FF2-A78D-4ECC-BD2D8538D4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E4A2685-33D2-41EE-7642-AA4537230B1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BFE7384-991F-4C05-C1CC-A674F0DC6CA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ADA40B6-53BF-5A7C-4803-BB4C911904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F902D8-50AF-4053-B964-F981F7E0F83E}" type="datetimeFigureOut">
              <a:rPr lang="en-GB" smtClean="0"/>
              <a:t>03/01/2026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7A2742C-33C7-02D9-25A5-93E3AE8345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5B40AE2-FA5A-7DC6-6244-C1B37B66BF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C9B8E2-34A1-45EE-BF95-CC9A7BD9DA3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2422743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115B15-E5FF-F203-3E3F-28D7686D1A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CA171D4-CEEA-E945-8FFA-55531BF9526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50F329F-E9AB-6C47-36B2-FB068E2EED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F902D8-50AF-4053-B964-F981F7E0F83E}" type="datetimeFigureOut">
              <a:rPr lang="en-GB" smtClean="0"/>
              <a:t>03/01/2026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E1FB01-648E-A4C3-BA01-34F4FEAF82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1B578E5-BE4A-BB85-4EC2-5C292BAFA5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C9B8E2-34A1-45EE-BF95-CC9A7BD9DA3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85643558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B6C31F2-59A0-733D-5EF0-E806A8197DF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E115DFD-10E6-0D68-AFCC-094D9861A53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1C73595-6F21-E6C4-6B7F-845F2FEB17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F902D8-50AF-4053-B964-F981F7E0F83E}" type="datetimeFigureOut">
              <a:rPr lang="en-GB" smtClean="0"/>
              <a:t>03/01/2026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0DEDDDC-1194-52DD-6B7F-23432F2AE2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425A90-E98D-88B3-DF54-73718F2874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3C9B8E2-34A1-45EE-BF95-CC9A7BD9DA3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44182208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1">
                <a:lumMod val="0"/>
                <a:lumOff val="100000"/>
              </a:schemeClr>
            </a:gs>
            <a:gs pos="35000">
              <a:schemeClr val="accent1">
                <a:lumMod val="0"/>
                <a:lumOff val="100000"/>
              </a:schemeClr>
            </a:gs>
            <a:gs pos="100000">
              <a:schemeClr val="tx2">
                <a:lumMod val="50000"/>
              </a:schemeClr>
            </a:gs>
          </a:gsLst>
          <a:path path="circle">
            <a:fillToRect l="50000" t="-80000" r="50000" b="18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49CEDA8-96CE-0BD4-2472-9AC20AEF3F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6DD7F8E-0456-5401-1E5B-05DFE90AB19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2148EA-A1D2-2E67-DABB-E5071391402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FF902D8-50AF-4053-B964-F981F7E0F83E}" type="datetimeFigureOut">
              <a:rPr lang="en-GB" smtClean="0"/>
              <a:t>03/01/2026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343DBC7-2872-0947-AB89-7DEDDCB0EE8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0521A6-0178-B5A2-C3DD-DC6BFB9DD9A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3C9B8E2-34A1-45EE-BF95-CC9A7BD9DA3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408592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1.png"/><Relationship Id="rId7" Type="http://schemas.openxmlformats.org/officeDocument/2006/relationships/image" Target="../media/image6.pn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1.png"/><Relationship Id="rId7" Type="http://schemas.openxmlformats.org/officeDocument/2006/relationships/image" Target="../media/image6.pn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10" Type="http://schemas.openxmlformats.org/officeDocument/2006/relationships/image" Target="../media/image9.png"/><Relationship Id="rId4" Type="http://schemas.openxmlformats.org/officeDocument/2006/relationships/image" Target="../media/image6.png"/><Relationship Id="rId9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10" Type="http://schemas.openxmlformats.org/officeDocument/2006/relationships/image" Target="../media/image9.png"/><Relationship Id="rId4" Type="http://schemas.openxmlformats.org/officeDocument/2006/relationships/image" Target="../media/image6.png"/><Relationship Id="rId9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10" Type="http://schemas.openxmlformats.org/officeDocument/2006/relationships/image" Target="../media/image9.png"/><Relationship Id="rId4" Type="http://schemas.openxmlformats.org/officeDocument/2006/relationships/image" Target="../media/image6.png"/><Relationship Id="rId9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10" Type="http://schemas.openxmlformats.org/officeDocument/2006/relationships/image" Target="../media/image9.png"/><Relationship Id="rId4" Type="http://schemas.openxmlformats.org/officeDocument/2006/relationships/image" Target="../media/image6.png"/><Relationship Id="rId9" Type="http://schemas.openxmlformats.org/officeDocument/2006/relationships/image" Target="../media/image8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10" Type="http://schemas.openxmlformats.org/officeDocument/2006/relationships/image" Target="../media/image9.png"/><Relationship Id="rId4" Type="http://schemas.openxmlformats.org/officeDocument/2006/relationships/image" Target="../media/image6.png"/><Relationship Id="rId9" Type="http://schemas.openxmlformats.org/officeDocument/2006/relationships/image" Target="../media/image8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1.png"/><Relationship Id="rId7" Type="http://schemas.openxmlformats.org/officeDocument/2006/relationships/image" Target="../media/image13.pn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10" Type="http://schemas.openxmlformats.org/officeDocument/2006/relationships/image" Target="../media/image9.png"/><Relationship Id="rId4" Type="http://schemas.openxmlformats.org/officeDocument/2006/relationships/image" Target="../media/image10.png"/><Relationship Id="rId9" Type="http://schemas.openxmlformats.org/officeDocument/2006/relationships/image" Target="../media/image15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2.jpe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11" Type="http://schemas.openxmlformats.org/officeDocument/2006/relationships/image" Target="../media/image9.png"/><Relationship Id="rId5" Type="http://schemas.openxmlformats.org/officeDocument/2006/relationships/image" Target="../media/image10.png"/><Relationship Id="rId10" Type="http://schemas.openxmlformats.org/officeDocument/2006/relationships/image" Target="../media/image15.png"/><Relationship Id="rId4" Type="http://schemas.openxmlformats.org/officeDocument/2006/relationships/image" Target="../media/image1.png"/><Relationship Id="rId9" Type="http://schemas.openxmlformats.org/officeDocument/2006/relationships/image" Target="../media/image14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1.png"/><Relationship Id="rId7" Type="http://schemas.openxmlformats.org/officeDocument/2006/relationships/image" Target="../media/image13.pn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10" Type="http://schemas.openxmlformats.org/officeDocument/2006/relationships/image" Target="../media/image9.png"/><Relationship Id="rId4" Type="http://schemas.openxmlformats.org/officeDocument/2006/relationships/image" Target="../media/image10.png"/><Relationship Id="rId9" Type="http://schemas.openxmlformats.org/officeDocument/2006/relationships/image" Target="../media/image15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1.png"/><Relationship Id="rId7" Type="http://schemas.openxmlformats.org/officeDocument/2006/relationships/image" Target="../media/image13.pn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10" Type="http://schemas.openxmlformats.org/officeDocument/2006/relationships/image" Target="../media/image9.png"/><Relationship Id="rId4" Type="http://schemas.openxmlformats.org/officeDocument/2006/relationships/image" Target="../media/image10.png"/><Relationship Id="rId9" Type="http://schemas.openxmlformats.org/officeDocument/2006/relationships/image" Target="../media/image15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1.png"/><Relationship Id="rId7" Type="http://schemas.openxmlformats.org/officeDocument/2006/relationships/image" Target="../media/image13.pn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10" Type="http://schemas.openxmlformats.org/officeDocument/2006/relationships/image" Target="../media/image9.png"/><Relationship Id="rId4" Type="http://schemas.openxmlformats.org/officeDocument/2006/relationships/image" Target="../media/image10.png"/><Relationship Id="rId9" Type="http://schemas.openxmlformats.org/officeDocument/2006/relationships/image" Target="../media/image15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2.jpeg"/><Relationship Id="rId7" Type="http://schemas.openxmlformats.org/officeDocument/2006/relationships/image" Target="../media/image11.png"/><Relationship Id="rId12" Type="http://schemas.openxmlformats.org/officeDocument/2006/relationships/image" Target="../media/image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11" Type="http://schemas.openxmlformats.org/officeDocument/2006/relationships/image" Target="../media/image15.png"/><Relationship Id="rId5" Type="http://schemas.openxmlformats.org/officeDocument/2006/relationships/hyperlink" Target="https://github.com/abduu-codes/Goupno3-car-rental-service.git" TargetMode="External"/><Relationship Id="rId10" Type="http://schemas.openxmlformats.org/officeDocument/2006/relationships/image" Target="../media/image14.png"/><Relationship Id="rId4" Type="http://schemas.openxmlformats.org/officeDocument/2006/relationships/hyperlink" Target="https://abduu-codes.github.io/Goupno3-car-rental-service/" TargetMode="External"/><Relationship Id="rId9" Type="http://schemas.openxmlformats.org/officeDocument/2006/relationships/image" Target="../media/image13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8CE8BAD5-B9BB-A647-7BC9-F7C4CDDA5700}"/>
              </a:ext>
            </a:extLst>
          </p:cNvPr>
          <p:cNvSpPr txBox="1"/>
          <p:nvPr/>
        </p:nvSpPr>
        <p:spPr>
          <a:xfrm>
            <a:off x="266700" y="2111615"/>
            <a:ext cx="11658600" cy="28931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3800" dirty="0">
                <a:solidFill>
                  <a:schemeClr val="tx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WELCOME</a:t>
            </a:r>
          </a:p>
          <a:p>
            <a:pPr algn="ctr"/>
            <a:r>
              <a:rPr lang="en-US" sz="4000" dirty="0">
                <a:solidFill>
                  <a:schemeClr val="tx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TO OUR PRESENTATION</a:t>
            </a:r>
            <a:endParaRPr lang="en-GB" sz="4000" dirty="0">
              <a:solidFill>
                <a:schemeClr val="tx2">
                  <a:lumMod val="5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Right Triangle 7">
            <a:extLst>
              <a:ext uri="{FF2B5EF4-FFF2-40B4-BE49-F238E27FC236}">
                <a16:creationId xmlns:a16="http://schemas.microsoft.com/office/drawing/2014/main" id="{389079FD-D06F-1AA8-0262-0C4677C5029C}"/>
              </a:ext>
            </a:extLst>
          </p:cNvPr>
          <p:cNvSpPr/>
          <p:nvPr/>
        </p:nvSpPr>
        <p:spPr>
          <a:xfrm rot="10800000">
            <a:off x="0" y="0"/>
            <a:ext cx="12192000" cy="5435600"/>
          </a:xfrm>
          <a:custGeom>
            <a:avLst/>
            <a:gdLst>
              <a:gd name="connsiteX0" fmla="*/ 0 w 12192000"/>
              <a:gd name="connsiteY0" fmla="*/ 5435600 h 5435600"/>
              <a:gd name="connsiteX1" fmla="*/ 0 w 12192000"/>
              <a:gd name="connsiteY1" fmla="*/ 0 h 5435600"/>
              <a:gd name="connsiteX2" fmla="*/ 12192000 w 12192000"/>
              <a:gd name="connsiteY2" fmla="*/ 5435600 h 5435600"/>
              <a:gd name="connsiteX3" fmla="*/ 0 w 12192000"/>
              <a:gd name="connsiteY3" fmla="*/ 5435600 h 5435600"/>
              <a:gd name="connsiteX0" fmla="*/ 0 w 12192000"/>
              <a:gd name="connsiteY0" fmla="*/ 5435600 h 5435600"/>
              <a:gd name="connsiteX1" fmla="*/ 0 w 12192000"/>
              <a:gd name="connsiteY1" fmla="*/ 0 h 5435600"/>
              <a:gd name="connsiteX2" fmla="*/ 12192000 w 12192000"/>
              <a:gd name="connsiteY2" fmla="*/ 5435600 h 5435600"/>
              <a:gd name="connsiteX3" fmla="*/ 0 w 12192000"/>
              <a:gd name="connsiteY3" fmla="*/ 5435600 h 5435600"/>
              <a:gd name="connsiteX0" fmla="*/ 0 w 12192000"/>
              <a:gd name="connsiteY0" fmla="*/ 5435600 h 5435600"/>
              <a:gd name="connsiteX1" fmla="*/ 0 w 12192000"/>
              <a:gd name="connsiteY1" fmla="*/ 0 h 5435600"/>
              <a:gd name="connsiteX2" fmla="*/ 12192000 w 12192000"/>
              <a:gd name="connsiteY2" fmla="*/ 5435600 h 5435600"/>
              <a:gd name="connsiteX3" fmla="*/ 0 w 12192000"/>
              <a:gd name="connsiteY3" fmla="*/ 5435600 h 5435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192000" h="5435600">
                <a:moveTo>
                  <a:pt x="0" y="5435600"/>
                </a:moveTo>
                <a:lnTo>
                  <a:pt x="0" y="0"/>
                </a:lnTo>
                <a:cubicBezTo>
                  <a:pt x="6502400" y="325967"/>
                  <a:pt x="4914900" y="5363633"/>
                  <a:pt x="12192000" y="5435600"/>
                </a:cubicBezTo>
                <a:lnTo>
                  <a:pt x="0" y="5435600"/>
                </a:lnTo>
                <a:close/>
              </a:path>
            </a:pathLst>
          </a:custGeom>
          <a:gradFill flip="none" rotWithShape="1">
            <a:gsLst>
              <a:gs pos="0">
                <a:schemeClr val="tx1">
                  <a:lumMod val="65000"/>
                  <a:lumOff val="35000"/>
                  <a:shade val="30000"/>
                  <a:satMod val="115000"/>
                </a:schemeClr>
              </a:gs>
              <a:gs pos="50000">
                <a:schemeClr val="tx1">
                  <a:lumMod val="65000"/>
                  <a:lumOff val="35000"/>
                  <a:shade val="67500"/>
                  <a:satMod val="115000"/>
                </a:schemeClr>
              </a:gs>
              <a:gs pos="100000">
                <a:schemeClr val="tx1">
                  <a:lumMod val="65000"/>
                  <a:lumOff val="35000"/>
                  <a:shade val="100000"/>
                  <a:satMod val="115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>
            <a:outerShdw blurRad="50800" dist="38100" dir="18900000" algn="b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Right Triangle 7">
            <a:extLst>
              <a:ext uri="{FF2B5EF4-FFF2-40B4-BE49-F238E27FC236}">
                <a16:creationId xmlns:a16="http://schemas.microsoft.com/office/drawing/2014/main" id="{E5406CE7-42C2-66C3-7502-80F1FE6D61EE}"/>
              </a:ext>
            </a:extLst>
          </p:cNvPr>
          <p:cNvSpPr/>
          <p:nvPr/>
        </p:nvSpPr>
        <p:spPr>
          <a:xfrm>
            <a:off x="-10886" y="1433285"/>
            <a:ext cx="12192000" cy="5435600"/>
          </a:xfrm>
          <a:custGeom>
            <a:avLst/>
            <a:gdLst>
              <a:gd name="connsiteX0" fmla="*/ 0 w 12192000"/>
              <a:gd name="connsiteY0" fmla="*/ 5435600 h 5435600"/>
              <a:gd name="connsiteX1" fmla="*/ 0 w 12192000"/>
              <a:gd name="connsiteY1" fmla="*/ 0 h 5435600"/>
              <a:gd name="connsiteX2" fmla="*/ 12192000 w 12192000"/>
              <a:gd name="connsiteY2" fmla="*/ 5435600 h 5435600"/>
              <a:gd name="connsiteX3" fmla="*/ 0 w 12192000"/>
              <a:gd name="connsiteY3" fmla="*/ 5435600 h 5435600"/>
              <a:gd name="connsiteX0" fmla="*/ 0 w 12192000"/>
              <a:gd name="connsiteY0" fmla="*/ 5435600 h 5435600"/>
              <a:gd name="connsiteX1" fmla="*/ 0 w 12192000"/>
              <a:gd name="connsiteY1" fmla="*/ 0 h 5435600"/>
              <a:gd name="connsiteX2" fmla="*/ 12192000 w 12192000"/>
              <a:gd name="connsiteY2" fmla="*/ 5435600 h 5435600"/>
              <a:gd name="connsiteX3" fmla="*/ 0 w 12192000"/>
              <a:gd name="connsiteY3" fmla="*/ 5435600 h 5435600"/>
              <a:gd name="connsiteX0" fmla="*/ 0 w 12192000"/>
              <a:gd name="connsiteY0" fmla="*/ 5435600 h 5435600"/>
              <a:gd name="connsiteX1" fmla="*/ 0 w 12192000"/>
              <a:gd name="connsiteY1" fmla="*/ 0 h 5435600"/>
              <a:gd name="connsiteX2" fmla="*/ 12192000 w 12192000"/>
              <a:gd name="connsiteY2" fmla="*/ 5435600 h 5435600"/>
              <a:gd name="connsiteX3" fmla="*/ 0 w 12192000"/>
              <a:gd name="connsiteY3" fmla="*/ 5435600 h 5435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192000" h="5435600">
                <a:moveTo>
                  <a:pt x="0" y="5435600"/>
                </a:moveTo>
                <a:lnTo>
                  <a:pt x="0" y="0"/>
                </a:lnTo>
                <a:cubicBezTo>
                  <a:pt x="6502400" y="325967"/>
                  <a:pt x="4914900" y="5363633"/>
                  <a:pt x="12192000" y="5435600"/>
                </a:cubicBezTo>
                <a:lnTo>
                  <a:pt x="0" y="5435600"/>
                </a:lnTo>
                <a:close/>
              </a:path>
            </a:pathLst>
          </a:custGeom>
          <a:gradFill flip="none" rotWithShape="1">
            <a:gsLst>
              <a:gs pos="0">
                <a:schemeClr val="tx1">
                  <a:lumMod val="65000"/>
                  <a:lumOff val="35000"/>
                  <a:shade val="30000"/>
                  <a:satMod val="115000"/>
                </a:schemeClr>
              </a:gs>
              <a:gs pos="50000">
                <a:schemeClr val="tx1">
                  <a:lumMod val="65000"/>
                  <a:lumOff val="35000"/>
                  <a:shade val="67500"/>
                  <a:satMod val="115000"/>
                </a:schemeClr>
              </a:gs>
              <a:gs pos="100000">
                <a:schemeClr val="tx1">
                  <a:lumMod val="65000"/>
                  <a:lumOff val="35000"/>
                  <a:shade val="100000"/>
                  <a:satMod val="115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>
            <a:outerShdw blurRad="50800" dist="38100" dir="18900000" algn="b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23030360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1.45833E-6 -4.07407E-6 L -0.02604 0.42778 " pathEditMode="relative" rAng="0" ptsTypes="AA">
                                      <p:cBhvr>
                                        <p:cTn id="6" dur="2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302" y="21389"/>
                                    </p:animMotion>
                                  </p:childTnLst>
                                </p:cTn>
                              </p:par>
                              <p:par>
                                <p:cTn id="7" presetID="64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3.7037E-6 L 0 -0.40926 " pathEditMode="relative" rAng="0" ptsTypes="AA">
                                      <p:cBhvr>
                                        <p:cTn id="8" dur="2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20463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8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48F029-33C2-4FED-CCE7-356704564A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0DB31E99-DBE1-E69D-C186-C430CDED2164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68670" y="-327668"/>
            <a:ext cx="12288228" cy="9212383"/>
          </a:xfrm>
          <a:prstGeom prst="rect">
            <a:avLst/>
          </a:prstGeom>
        </p:spPr>
      </p:pic>
      <p:pic>
        <p:nvPicPr>
          <p:cNvPr id="10244" name="Picture 4" descr="This may contain: an abstract red background with lines and stars">
            <a:extLst>
              <a:ext uri="{FF2B5EF4-FFF2-40B4-BE49-F238E27FC236}">
                <a16:creationId xmlns:a16="http://schemas.microsoft.com/office/drawing/2014/main" id="{B6285B01-B2BD-C546-AFEB-F3670429AB2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alphaModFix amt="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2628900"/>
            <a:ext cx="12192000" cy="12192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B393469C-C318-BE13-8915-A724E86532A9}"/>
              </a:ext>
            </a:extLst>
          </p:cNvPr>
          <p:cNvSpPr txBox="1"/>
          <p:nvPr/>
        </p:nvSpPr>
        <p:spPr>
          <a:xfrm>
            <a:off x="1232535" y="210026"/>
            <a:ext cx="9726930" cy="66479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DREAM CAR RENTAL</a:t>
            </a:r>
            <a:endParaRPr lang="en-US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endParaRPr lang="en-US" sz="3200" b="1" u="sng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US" sz="3200" b="1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Supervised By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 algn="ctr"/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Mam Ramsha Khalid</a:t>
            </a:r>
          </a:p>
          <a:p>
            <a:pPr algn="ctr"/>
            <a:endParaRPr lang="en-US" sz="3200" b="1" u="sng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US" sz="3200" b="1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Submitted by:</a:t>
            </a:r>
            <a:b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Muhammad Abdullah (2025-GA-118)</a:t>
            </a:r>
            <a:b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Muhammad Abdullah Hafeez (2025-GA-63)</a:t>
            </a:r>
            <a:b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Muhammad Hassan Azam (2025-GA-70)</a:t>
            </a:r>
            <a:b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Abdullah Bin Tahir (2025-GA-96)</a:t>
            </a:r>
            <a:b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Ezza Fatima (2025-GA-82)</a:t>
            </a:r>
          </a:p>
          <a:p>
            <a:pPr algn="ctr"/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DEC-3/2026</a:t>
            </a:r>
          </a:p>
          <a:p>
            <a:pPr algn="ctr"/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Department of Computer Science</a:t>
            </a:r>
          </a:p>
          <a:p>
            <a:pPr algn="ctr"/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University of Engineering and Technology, Lahore</a:t>
            </a:r>
          </a:p>
          <a:p>
            <a:pPr algn="ctr"/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02052909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5" presetClass="emph" presetSubtype="0" grpId="0" nodeType="withEffect">
                                  <p:stCondLst>
                                    <p:cond delay="0"/>
                                  </p:stCondLst>
                                  <p:iterate type="lt">
                                    <p:tmAbs val="25"/>
                                  </p:iterate>
                                  <p:childTnLst>
                                    <p:set>
                                      <p:cBhvr override="childStyle">
                                        <p:cTn id="6" dur="indefinite"/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10AD7B-031A-3F8A-7727-5A5E11BA02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4" descr="This may contain: an abstract red background with lines and stars">
            <a:extLst>
              <a:ext uri="{FF2B5EF4-FFF2-40B4-BE49-F238E27FC236}">
                <a16:creationId xmlns:a16="http://schemas.microsoft.com/office/drawing/2014/main" id="{DDE4773B-65EE-AFFD-4677-9FE2CFA0794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alphaModFix amt="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2628900"/>
            <a:ext cx="12192000" cy="12192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3" name="Circle: Hollow 22">
            <a:extLst>
              <a:ext uri="{FF2B5EF4-FFF2-40B4-BE49-F238E27FC236}">
                <a16:creationId xmlns:a16="http://schemas.microsoft.com/office/drawing/2014/main" id="{B8795D71-873B-4DFF-0579-A62032A9EDC5}"/>
              </a:ext>
            </a:extLst>
          </p:cNvPr>
          <p:cNvSpPr/>
          <p:nvPr/>
        </p:nvSpPr>
        <p:spPr>
          <a:xfrm>
            <a:off x="-2338892" y="440054"/>
            <a:ext cx="6389370" cy="5977890"/>
          </a:xfrm>
          <a:prstGeom prst="donut">
            <a:avLst/>
          </a:prstGeom>
          <a:gradFill flip="none" rotWithShape="1">
            <a:gsLst>
              <a:gs pos="0">
                <a:schemeClr val="tx1">
                  <a:lumMod val="65000"/>
                  <a:lumOff val="35000"/>
                  <a:shade val="30000"/>
                  <a:satMod val="115000"/>
                </a:schemeClr>
              </a:gs>
              <a:gs pos="50000">
                <a:schemeClr val="tx1">
                  <a:lumMod val="65000"/>
                  <a:lumOff val="35000"/>
                  <a:shade val="67500"/>
                  <a:satMod val="115000"/>
                </a:schemeClr>
              </a:gs>
              <a:gs pos="100000">
                <a:schemeClr val="tx1">
                  <a:lumMod val="65000"/>
                  <a:lumOff val="35000"/>
                  <a:shade val="100000"/>
                  <a:satMod val="115000"/>
                </a:schemeClr>
              </a:gs>
            </a:gsLst>
            <a:lin ang="5400000" scaled="1"/>
            <a:tileRect/>
          </a:gra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3" name="Block Arc 2">
            <a:extLst>
              <a:ext uri="{FF2B5EF4-FFF2-40B4-BE49-F238E27FC236}">
                <a16:creationId xmlns:a16="http://schemas.microsoft.com/office/drawing/2014/main" id="{8452FEE8-A400-A589-F8FE-1270D79DFAD7}"/>
              </a:ext>
            </a:extLst>
          </p:cNvPr>
          <p:cNvSpPr/>
          <p:nvPr/>
        </p:nvSpPr>
        <p:spPr>
          <a:xfrm rot="13273316">
            <a:off x="-2527300" y="177359"/>
            <a:ext cx="6679362" cy="6503280"/>
          </a:xfrm>
          <a:prstGeom prst="blockArc">
            <a:avLst>
              <a:gd name="adj1" fmla="val 19460416"/>
              <a:gd name="adj2" fmla="val 416114"/>
              <a:gd name="adj3" fmla="val 30569"/>
            </a:avLst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8C7CBC8-42C5-080E-3887-2A423FBDE0A1}"/>
              </a:ext>
            </a:extLst>
          </p:cNvPr>
          <p:cNvSpPr txBox="1"/>
          <p:nvPr/>
        </p:nvSpPr>
        <p:spPr>
          <a:xfrm>
            <a:off x="3849013" y="2286676"/>
            <a:ext cx="834298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5400" b="1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Demo Graphics</a:t>
            </a:r>
            <a:endParaRPr lang="en-GB" sz="5400" b="1" u="sng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920C197-815C-86E4-74AD-407D7581F02F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68670" y="-327668"/>
            <a:ext cx="12288228" cy="921238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5AD9690B-2155-F4E4-1DF3-9628DCE7EFA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7089" y="743036"/>
            <a:ext cx="817408" cy="817408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F6E3BA60-A231-DB9B-3544-8B989426B74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57703" y="1193858"/>
            <a:ext cx="706119" cy="706119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DA80EE6A-4AC5-C24E-7969-13FB05E31471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18566" y="3586390"/>
            <a:ext cx="721514" cy="721514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8F8A2D4E-21A5-07C7-3128-19C87711ECCB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30881" y="2215226"/>
            <a:ext cx="762863" cy="762863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E93AD790-9BBD-5754-518B-F1DE465FA530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207371" y="4753261"/>
            <a:ext cx="761299" cy="761299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0E537EF3-E583-F4CA-A691-B9F3B1C44637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09889" y="5273306"/>
            <a:ext cx="841658" cy="841658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8417B849-CDF3-0997-8107-1CDD7DB4F206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 rot="4086563">
            <a:off x="-157488" y="2601618"/>
            <a:ext cx="1055797" cy="10557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1102885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5BDE87-2F47-0BAA-182B-2023DE24A6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Picture 4" descr="This may contain: an abstract red background with lines and stars">
            <a:extLst>
              <a:ext uri="{FF2B5EF4-FFF2-40B4-BE49-F238E27FC236}">
                <a16:creationId xmlns:a16="http://schemas.microsoft.com/office/drawing/2014/main" id="{2683738E-276F-8E37-630B-D441855863C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alphaModFix amt="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2678153"/>
            <a:ext cx="12192000" cy="12192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7" name="Circle: Hollow 26">
            <a:extLst>
              <a:ext uri="{FF2B5EF4-FFF2-40B4-BE49-F238E27FC236}">
                <a16:creationId xmlns:a16="http://schemas.microsoft.com/office/drawing/2014/main" id="{505551C7-4176-003D-78F1-57CC6F2782A3}"/>
              </a:ext>
            </a:extLst>
          </p:cNvPr>
          <p:cNvSpPr/>
          <p:nvPr/>
        </p:nvSpPr>
        <p:spPr>
          <a:xfrm>
            <a:off x="-2376622" y="440054"/>
            <a:ext cx="6389370" cy="5977890"/>
          </a:xfrm>
          <a:prstGeom prst="donut">
            <a:avLst/>
          </a:prstGeom>
          <a:gradFill flip="none" rotWithShape="1">
            <a:gsLst>
              <a:gs pos="0">
                <a:schemeClr val="tx1">
                  <a:lumMod val="65000"/>
                  <a:lumOff val="35000"/>
                  <a:shade val="30000"/>
                  <a:satMod val="115000"/>
                </a:schemeClr>
              </a:gs>
              <a:gs pos="50000">
                <a:schemeClr val="tx1">
                  <a:lumMod val="65000"/>
                  <a:lumOff val="35000"/>
                  <a:shade val="67500"/>
                  <a:satMod val="115000"/>
                </a:schemeClr>
              </a:gs>
              <a:gs pos="100000">
                <a:schemeClr val="tx1">
                  <a:lumMod val="65000"/>
                  <a:lumOff val="35000"/>
                  <a:shade val="100000"/>
                  <a:satMod val="115000"/>
                </a:schemeClr>
              </a:gs>
            </a:gsLst>
            <a:lin ang="5400000" scaled="1"/>
            <a:tileRect/>
          </a:gra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tx1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13DC794-2684-6039-8B4C-EACAA8CC372C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68670" y="-327668"/>
            <a:ext cx="12288228" cy="9212383"/>
          </a:xfrm>
          <a:prstGeom prst="rect">
            <a:avLst/>
          </a:prstGeom>
        </p:spPr>
      </p:pic>
      <p:sp>
        <p:nvSpPr>
          <p:cNvPr id="3" name="Block Arc 2">
            <a:extLst>
              <a:ext uri="{FF2B5EF4-FFF2-40B4-BE49-F238E27FC236}">
                <a16:creationId xmlns:a16="http://schemas.microsoft.com/office/drawing/2014/main" id="{D08EB8B3-AD9F-7304-C43B-5ADEB6627688}"/>
              </a:ext>
            </a:extLst>
          </p:cNvPr>
          <p:cNvSpPr/>
          <p:nvPr/>
        </p:nvSpPr>
        <p:spPr>
          <a:xfrm rot="17197357">
            <a:off x="-2521618" y="166207"/>
            <a:ext cx="6679362" cy="6503280"/>
          </a:xfrm>
          <a:prstGeom prst="blockArc">
            <a:avLst>
              <a:gd name="adj1" fmla="val 19460416"/>
              <a:gd name="adj2" fmla="val 416114"/>
              <a:gd name="adj3" fmla="val 30569"/>
            </a:avLst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5F54E4E6-F514-37B8-2B2C-449DB71BEE18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38298" y="1330979"/>
            <a:ext cx="9874702" cy="68479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179141" tIns="38088" rIns="1179141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tabLst>
                <a:tab pos="4870450" algn="r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tabLst>
                <a:tab pos="4870450" algn="r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tabLst>
                <a:tab pos="4870450" algn="r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tabLst>
                <a:tab pos="4870450" algn="r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tabLst>
                <a:tab pos="4870450" algn="r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tabLst>
                <a:tab pos="4870450" algn="r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tabLst>
                <a:tab pos="4870450" algn="r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tabLst>
                <a:tab pos="4870450" algn="r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tabLst>
                <a:tab pos="4870450" algn="r"/>
              </a:tabLs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>
                <a:tab pos="4870450" algn="r"/>
              </a:tabLst>
            </a:pPr>
            <a:r>
              <a:rPr kumimoji="0" lang="en-US" altLang="en-US" sz="3200" b="1" i="0" u="sng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OBJECTIVES:</a:t>
            </a:r>
            <a:endParaRPr kumimoji="0" lang="en-US" altLang="en-US" sz="3200" b="1" i="0" u="sng" strike="noStrike" cap="none" normalizeH="0" baseline="0" dirty="0">
              <a:ln>
                <a:noFill/>
              </a:ln>
              <a:effectLst/>
              <a:latin typeface="Times New Roman" panose="02020603050405020304" pitchFamily="18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>
                <a:tab pos="4870450" algn="r"/>
              </a:tabLst>
            </a:pPr>
            <a:r>
              <a:rPr lang="en-US" altLang="en-US" sz="1000" dirty="0">
                <a:solidFill>
                  <a:srgbClr val="0563C1"/>
                </a:solidFill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	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7CFAC7AD-77C0-CED7-0E2A-9C9CA8FA700B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39278" y="1853448"/>
            <a:ext cx="8237255" cy="193899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Develop a 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professional car rental website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using HTML &amp; CSS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Organize and analyze 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vehicle rental data using Excel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Track 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vehicle availability, rental prices, and income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Present data visually using 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charts for decision support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Practice 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version control and live deployment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using GitHub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65BD1C7C-33F5-58D0-0C62-1E324A4D004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1471" y="593700"/>
            <a:ext cx="1108339" cy="1108339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95C5EE75-DB31-95A7-367B-095265AF635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27730" y="1288603"/>
            <a:ext cx="706119" cy="706119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95865B6F-388B-6692-BBB5-3E46AE26EA8A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18566" y="3586390"/>
            <a:ext cx="721514" cy="721514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A6AA113E-A7F9-3D42-C0D8-A57B898623A6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30881" y="2215226"/>
            <a:ext cx="762863" cy="762863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18A1EBED-29B3-BE0F-F18D-A3CDC48922C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207371" y="4753261"/>
            <a:ext cx="761299" cy="761299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7528DECA-DE18-9E1B-D716-14255600FE77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34941" y="5273306"/>
            <a:ext cx="841658" cy="841658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64094915-F2CD-E90E-D368-CA6470D185E0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 rot="8138590">
            <a:off x="274984" y="2433842"/>
            <a:ext cx="1055797" cy="10557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4923987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CB2139-2E7A-7F57-758B-B70EA88D3A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" name="Picture 4" descr="This may contain: an abstract red background with lines and stars">
            <a:extLst>
              <a:ext uri="{FF2B5EF4-FFF2-40B4-BE49-F238E27FC236}">
                <a16:creationId xmlns:a16="http://schemas.microsoft.com/office/drawing/2014/main" id="{F2C917E4-D93F-DD7C-D13C-8AA78C2285E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alphaModFix amt="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2628900"/>
            <a:ext cx="12192000" cy="12192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0" name="Circle: Hollow 29">
            <a:extLst>
              <a:ext uri="{FF2B5EF4-FFF2-40B4-BE49-F238E27FC236}">
                <a16:creationId xmlns:a16="http://schemas.microsoft.com/office/drawing/2014/main" id="{90726CF2-CD9C-3365-B144-597F922BE096}"/>
              </a:ext>
            </a:extLst>
          </p:cNvPr>
          <p:cNvSpPr/>
          <p:nvPr/>
        </p:nvSpPr>
        <p:spPr>
          <a:xfrm>
            <a:off x="-2376622" y="440054"/>
            <a:ext cx="6389370" cy="5977890"/>
          </a:xfrm>
          <a:prstGeom prst="donut">
            <a:avLst/>
          </a:prstGeom>
          <a:gradFill flip="none" rotWithShape="1">
            <a:gsLst>
              <a:gs pos="0">
                <a:schemeClr val="tx1">
                  <a:lumMod val="65000"/>
                  <a:lumOff val="35000"/>
                  <a:shade val="30000"/>
                  <a:satMod val="115000"/>
                </a:schemeClr>
              </a:gs>
              <a:gs pos="50000">
                <a:schemeClr val="tx1">
                  <a:lumMod val="65000"/>
                  <a:lumOff val="35000"/>
                  <a:shade val="67500"/>
                  <a:satMod val="115000"/>
                </a:schemeClr>
              </a:gs>
              <a:gs pos="100000">
                <a:schemeClr val="tx1">
                  <a:lumMod val="65000"/>
                  <a:lumOff val="35000"/>
                  <a:shade val="100000"/>
                  <a:satMod val="115000"/>
                </a:schemeClr>
              </a:gs>
            </a:gsLst>
            <a:lin ang="5400000" scaled="1"/>
            <a:tileRect/>
          </a:gra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tx1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34BD21B-C4C4-8584-7480-06D195DA7FDD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68670" y="-327668"/>
            <a:ext cx="12288228" cy="9212383"/>
          </a:xfrm>
          <a:prstGeom prst="rect">
            <a:avLst/>
          </a:prstGeom>
        </p:spPr>
      </p:pic>
      <p:sp>
        <p:nvSpPr>
          <p:cNvPr id="3" name="Block Arc 2">
            <a:extLst>
              <a:ext uri="{FF2B5EF4-FFF2-40B4-BE49-F238E27FC236}">
                <a16:creationId xmlns:a16="http://schemas.microsoft.com/office/drawing/2014/main" id="{850FD62E-B650-BF54-5DCC-323594E3861C}"/>
              </a:ext>
            </a:extLst>
          </p:cNvPr>
          <p:cNvSpPr/>
          <p:nvPr/>
        </p:nvSpPr>
        <p:spPr>
          <a:xfrm rot="19273442">
            <a:off x="-2535119" y="177359"/>
            <a:ext cx="6679362" cy="6503280"/>
          </a:xfrm>
          <a:prstGeom prst="blockArc">
            <a:avLst>
              <a:gd name="adj1" fmla="val 19460416"/>
              <a:gd name="adj2" fmla="val 416114"/>
              <a:gd name="adj3" fmla="val 30569"/>
            </a:avLst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7684349-46F6-03FD-5D80-978F31FE9A03}"/>
              </a:ext>
            </a:extLst>
          </p:cNvPr>
          <p:cNvSpPr txBox="1"/>
          <p:nvPr/>
        </p:nvSpPr>
        <p:spPr>
          <a:xfrm>
            <a:off x="6621644" y="2501900"/>
            <a:ext cx="4668656" cy="34925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GB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BD67E98-50CC-903B-8CDF-275C961D3F82}"/>
              </a:ext>
            </a:extLst>
          </p:cNvPr>
          <p:cNvSpPr txBox="1"/>
          <p:nvPr/>
        </p:nvSpPr>
        <p:spPr>
          <a:xfrm>
            <a:off x="4272428" y="1238740"/>
            <a:ext cx="793966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Website Overview</a:t>
            </a:r>
          </a:p>
        </p:txBody>
      </p:sp>
      <p:sp>
        <p:nvSpPr>
          <p:cNvPr id="8" name="Rectangle 4">
            <a:extLst>
              <a:ext uri="{FF2B5EF4-FFF2-40B4-BE49-F238E27FC236}">
                <a16:creationId xmlns:a16="http://schemas.microsoft.com/office/drawing/2014/main" id="{FB255A3B-5065-1163-77FE-CFB981CBABE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684301" y="1864265"/>
            <a:ext cx="7115922" cy="30469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User-friendly car rental service website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Pages included: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Home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Brand-wise product pages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Booking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Contact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Focus on 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luxury and normal vehicle categories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Designed for 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clarity, navigation, and professionalism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A05275E4-2D41-9EC2-7094-BAD10C265AB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30881" y="2215226"/>
            <a:ext cx="762863" cy="762863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BDCC414A-C0ED-D9AD-47AD-210D9B8DADD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7089" y="743036"/>
            <a:ext cx="817408" cy="817408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A5DFD399-A594-2F14-D66F-EC899949A2F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91633" y="990797"/>
            <a:ext cx="1080659" cy="1080659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2B719259-2976-D727-8135-5F6A06E31612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18566" y="3586390"/>
            <a:ext cx="721514" cy="721514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E89122BB-FAD2-6AE1-6218-CA9CC24039AE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207371" y="4753261"/>
            <a:ext cx="761299" cy="761299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DEAC0FDD-DAB7-B647-1169-E04317BDAD0C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34941" y="5273306"/>
            <a:ext cx="841658" cy="841658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19052E3F-173F-F080-A56A-FBFBF26B8411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 rot="10800000">
            <a:off x="523030" y="2373202"/>
            <a:ext cx="1055797" cy="10557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9606778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B37939-691A-1C12-2D84-0BEB994661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Picture 4" descr="This may contain: an abstract red background with lines and stars">
            <a:extLst>
              <a:ext uri="{FF2B5EF4-FFF2-40B4-BE49-F238E27FC236}">
                <a16:creationId xmlns:a16="http://schemas.microsoft.com/office/drawing/2014/main" id="{12360BBB-2773-421F-36E2-B4B8681279D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alphaModFix amt="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634381"/>
            <a:ext cx="12192000" cy="12192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3" name="Circle: Hollow 32">
            <a:extLst>
              <a:ext uri="{FF2B5EF4-FFF2-40B4-BE49-F238E27FC236}">
                <a16:creationId xmlns:a16="http://schemas.microsoft.com/office/drawing/2014/main" id="{8944F528-C165-5C5F-1181-B6B5F6BA7BB4}"/>
              </a:ext>
            </a:extLst>
          </p:cNvPr>
          <p:cNvSpPr/>
          <p:nvPr/>
        </p:nvSpPr>
        <p:spPr>
          <a:xfrm>
            <a:off x="-2376622" y="440054"/>
            <a:ext cx="6389370" cy="5977890"/>
          </a:xfrm>
          <a:prstGeom prst="donut">
            <a:avLst/>
          </a:prstGeom>
          <a:gradFill flip="none" rotWithShape="1">
            <a:gsLst>
              <a:gs pos="0">
                <a:schemeClr val="tx1">
                  <a:lumMod val="65000"/>
                  <a:lumOff val="35000"/>
                  <a:shade val="30000"/>
                  <a:satMod val="115000"/>
                </a:schemeClr>
              </a:gs>
              <a:gs pos="50000">
                <a:schemeClr val="tx1">
                  <a:lumMod val="65000"/>
                  <a:lumOff val="35000"/>
                  <a:shade val="67500"/>
                  <a:satMod val="115000"/>
                </a:schemeClr>
              </a:gs>
              <a:gs pos="100000">
                <a:schemeClr val="tx1">
                  <a:lumMod val="65000"/>
                  <a:lumOff val="35000"/>
                  <a:shade val="100000"/>
                  <a:satMod val="115000"/>
                </a:schemeClr>
              </a:gs>
            </a:gsLst>
            <a:lin ang="5400000" scaled="1"/>
            <a:tileRect/>
          </a:gra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tx1"/>
              </a:solidFill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931DD654-6CE6-406A-7BA0-D12D58E6DF10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68670" y="-327668"/>
            <a:ext cx="12288228" cy="9212383"/>
          </a:xfrm>
          <a:prstGeom prst="rect">
            <a:avLst/>
          </a:prstGeom>
        </p:spPr>
      </p:pic>
      <p:sp>
        <p:nvSpPr>
          <p:cNvPr id="3" name="Block Arc 2">
            <a:extLst>
              <a:ext uri="{FF2B5EF4-FFF2-40B4-BE49-F238E27FC236}">
                <a16:creationId xmlns:a16="http://schemas.microsoft.com/office/drawing/2014/main" id="{D41EF17F-6A81-250E-E269-62AA504F6A5F}"/>
              </a:ext>
            </a:extLst>
          </p:cNvPr>
          <p:cNvSpPr/>
          <p:nvPr/>
        </p:nvSpPr>
        <p:spPr>
          <a:xfrm rot="21119359">
            <a:off x="-2527300" y="193464"/>
            <a:ext cx="6679362" cy="6503280"/>
          </a:xfrm>
          <a:prstGeom prst="blockArc">
            <a:avLst>
              <a:gd name="adj1" fmla="val 19460416"/>
              <a:gd name="adj2" fmla="val 416114"/>
              <a:gd name="adj3" fmla="val 30569"/>
            </a:avLst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28" name="Rectangle 2">
            <a:extLst>
              <a:ext uri="{FF2B5EF4-FFF2-40B4-BE49-F238E27FC236}">
                <a16:creationId xmlns:a16="http://schemas.microsoft.com/office/drawing/2014/main" id="{C03A26AB-0E22-CF03-2BF2-9DDD673BADB2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04010" y="3216451"/>
            <a:ext cx="264816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2404A68-E4A2-285C-013D-104FBE7564AB}"/>
              </a:ext>
            </a:extLst>
          </p:cNvPr>
          <p:cNvSpPr txBox="1"/>
          <p:nvPr/>
        </p:nvSpPr>
        <p:spPr>
          <a:xfrm>
            <a:off x="5459601" y="1451025"/>
            <a:ext cx="593524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Demo Screenshot: Home Page</a:t>
            </a:r>
          </a:p>
        </p:txBody>
      </p:sp>
      <p:sp>
        <p:nvSpPr>
          <p:cNvPr id="12" name="Rectangle 1">
            <a:extLst>
              <a:ext uri="{FF2B5EF4-FFF2-40B4-BE49-F238E27FC236}">
                <a16:creationId xmlns:a16="http://schemas.microsoft.com/office/drawing/2014/main" id="{B5C32AE3-DA44-C73F-23C7-BD056C68CCFB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49733" y="1958817"/>
            <a:ext cx="4793813" cy="132343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Hero section with </a:t>
            </a: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Book Now call-to-action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Brand highlights (Toyota, BMW, Audi, etc.)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Clean layout for first-time users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Sticky navigation bar for easy access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C6AB562E-7659-EA9E-B5DE-F2F2B851222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74791" y="1959136"/>
            <a:ext cx="981376" cy="981376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CF9AC8E2-D654-CC4B-8E96-6FFC2E7BA2B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7089" y="743036"/>
            <a:ext cx="817408" cy="817408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AC0254CD-6D68-30E2-CD38-5D06289EF01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89944" y="1075661"/>
            <a:ext cx="706119" cy="706119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0492B328-9770-4722-7EE7-40B369C20700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18566" y="3711650"/>
            <a:ext cx="721514" cy="721514"/>
          </a:xfrm>
          <a:prstGeom prst="rect">
            <a:avLst/>
          </a:prstGeom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E1CE060D-D149-DD60-75B5-BD69598BB60E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207371" y="4753261"/>
            <a:ext cx="761299" cy="761299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B3711D88-C898-CBD3-20CD-3B8BAEDE259D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34941" y="5273306"/>
            <a:ext cx="841658" cy="841658"/>
          </a:xfrm>
          <a:prstGeom prst="rect">
            <a:avLst/>
          </a:prstGeom>
        </p:spPr>
      </p:pic>
      <p:pic>
        <p:nvPicPr>
          <p:cNvPr id="32" name="Picture 31">
            <a:extLst>
              <a:ext uri="{FF2B5EF4-FFF2-40B4-BE49-F238E27FC236}">
                <a16:creationId xmlns:a16="http://schemas.microsoft.com/office/drawing/2014/main" id="{E6D79ADE-2F98-6724-118B-1E966F10BC1B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 rot="12480190">
            <a:off x="648093" y="2607484"/>
            <a:ext cx="1055797" cy="10557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113429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08C950-745C-A0BD-0A68-E8745F7A05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4" descr="This may contain: an abstract red background with lines and stars">
            <a:extLst>
              <a:ext uri="{FF2B5EF4-FFF2-40B4-BE49-F238E27FC236}">
                <a16:creationId xmlns:a16="http://schemas.microsoft.com/office/drawing/2014/main" id="{37E1DF9D-B49A-DD49-6CED-394CDF4496B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alphaModFix amt="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2628900"/>
            <a:ext cx="12192000" cy="12192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5" name="Circle: Hollow 24">
            <a:extLst>
              <a:ext uri="{FF2B5EF4-FFF2-40B4-BE49-F238E27FC236}">
                <a16:creationId xmlns:a16="http://schemas.microsoft.com/office/drawing/2014/main" id="{15DD4B86-2E6A-69C1-EEEE-27DF6D08C30A}"/>
              </a:ext>
            </a:extLst>
          </p:cNvPr>
          <p:cNvSpPr/>
          <p:nvPr/>
        </p:nvSpPr>
        <p:spPr>
          <a:xfrm>
            <a:off x="-2376622" y="440054"/>
            <a:ext cx="6389370" cy="5977890"/>
          </a:xfrm>
          <a:prstGeom prst="donut">
            <a:avLst/>
          </a:prstGeom>
          <a:gradFill flip="none" rotWithShape="1">
            <a:gsLst>
              <a:gs pos="0">
                <a:schemeClr val="tx1">
                  <a:lumMod val="65000"/>
                  <a:lumOff val="35000"/>
                  <a:shade val="30000"/>
                  <a:satMod val="115000"/>
                </a:schemeClr>
              </a:gs>
              <a:gs pos="50000">
                <a:schemeClr val="tx1">
                  <a:lumMod val="65000"/>
                  <a:lumOff val="35000"/>
                  <a:shade val="67500"/>
                  <a:satMod val="115000"/>
                </a:schemeClr>
              </a:gs>
              <a:gs pos="100000">
                <a:schemeClr val="tx1">
                  <a:lumMod val="65000"/>
                  <a:lumOff val="35000"/>
                  <a:shade val="100000"/>
                  <a:satMod val="115000"/>
                </a:schemeClr>
              </a:gs>
            </a:gsLst>
            <a:lin ang="5400000" scaled="1"/>
            <a:tileRect/>
          </a:gra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tx1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51ED67C-7A0A-9EE7-ACFF-E17F0AB11166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68670" y="-327668"/>
            <a:ext cx="12288228" cy="9212383"/>
          </a:xfrm>
          <a:prstGeom prst="rect">
            <a:avLst/>
          </a:prstGeom>
        </p:spPr>
      </p:pic>
      <p:sp>
        <p:nvSpPr>
          <p:cNvPr id="3" name="Block Arc 2">
            <a:extLst>
              <a:ext uri="{FF2B5EF4-FFF2-40B4-BE49-F238E27FC236}">
                <a16:creationId xmlns:a16="http://schemas.microsoft.com/office/drawing/2014/main" id="{DBF4D594-1457-50B3-71E3-0471ABCDC239}"/>
              </a:ext>
            </a:extLst>
          </p:cNvPr>
          <p:cNvSpPr/>
          <p:nvPr/>
        </p:nvSpPr>
        <p:spPr>
          <a:xfrm rot="1514833">
            <a:off x="-2527300" y="177359"/>
            <a:ext cx="6679362" cy="6503280"/>
          </a:xfrm>
          <a:prstGeom prst="blockArc">
            <a:avLst>
              <a:gd name="adj1" fmla="val 19460416"/>
              <a:gd name="adj2" fmla="val 416114"/>
              <a:gd name="adj3" fmla="val 30569"/>
            </a:avLst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A3F800D-1931-D813-5345-A49513F99861}"/>
              </a:ext>
            </a:extLst>
          </p:cNvPr>
          <p:cNvSpPr txBox="1"/>
          <p:nvPr/>
        </p:nvSpPr>
        <p:spPr>
          <a:xfrm>
            <a:off x="4687218" y="1216953"/>
            <a:ext cx="7747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Demo Screenshot: Product / Brand Page</a:t>
            </a:r>
          </a:p>
        </p:txBody>
      </p:sp>
      <p:sp>
        <p:nvSpPr>
          <p:cNvPr id="8" name="Rectangle 1">
            <a:extLst>
              <a:ext uri="{FF2B5EF4-FFF2-40B4-BE49-F238E27FC236}">
                <a16:creationId xmlns:a16="http://schemas.microsoft.com/office/drawing/2014/main" id="{5C73B38C-7EE9-5534-2D2E-8990553F38AA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04743" y="1750774"/>
            <a:ext cx="5609934" cy="132343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Brand-wise vehicle listings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Displays car models and rental focus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Separate pages for Toyota, BMW, Audi, Honda, etc.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Helps users quickly compare options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C8ED0CE-F5C8-8588-8F7E-B7466A694D8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30881" y="2115018"/>
            <a:ext cx="762863" cy="762863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E3E16C17-4FCB-8134-2592-21BF22FC05C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7089" y="743036"/>
            <a:ext cx="817408" cy="817408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1E4EAF03-E45A-6563-E9D9-36A9F1CED9E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20333" y="1156280"/>
            <a:ext cx="706119" cy="706119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E3FD7C7D-411C-E1DE-0DE1-BEDE323A01EA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70017" y="3316633"/>
            <a:ext cx="1183004" cy="1183004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E0ED6047-E1AE-45ED-51DD-73D2939D7827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207371" y="4753261"/>
            <a:ext cx="761299" cy="761299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57CD6FE9-EFCF-E43B-543D-10973ADF3B74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09889" y="5273306"/>
            <a:ext cx="841658" cy="841658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89035DD2-C110-9856-F34A-D7D960EA7BAF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 rot="14468361">
            <a:off x="726677" y="2856734"/>
            <a:ext cx="1055797" cy="10557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6003455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4D073E-765D-A972-F9EF-429DE99873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Picture 4" descr="This may contain: an abstract red background with lines and stars">
            <a:extLst>
              <a:ext uri="{FF2B5EF4-FFF2-40B4-BE49-F238E27FC236}">
                <a16:creationId xmlns:a16="http://schemas.microsoft.com/office/drawing/2014/main" id="{DE8BFB55-6264-E318-3B44-BEC8CDEE282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alphaModFix amt="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527" y="-2650895"/>
            <a:ext cx="12192000" cy="12192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2" name="Circle: Hollow 31">
            <a:extLst>
              <a:ext uri="{FF2B5EF4-FFF2-40B4-BE49-F238E27FC236}">
                <a16:creationId xmlns:a16="http://schemas.microsoft.com/office/drawing/2014/main" id="{F2E522B7-B3FF-2A63-F10B-959881800F50}"/>
              </a:ext>
            </a:extLst>
          </p:cNvPr>
          <p:cNvSpPr/>
          <p:nvPr/>
        </p:nvSpPr>
        <p:spPr>
          <a:xfrm>
            <a:off x="-2376622" y="440054"/>
            <a:ext cx="6389370" cy="5977890"/>
          </a:xfrm>
          <a:prstGeom prst="donut">
            <a:avLst/>
          </a:prstGeom>
          <a:gradFill flip="none" rotWithShape="1">
            <a:gsLst>
              <a:gs pos="0">
                <a:schemeClr val="tx1">
                  <a:lumMod val="65000"/>
                  <a:lumOff val="35000"/>
                  <a:shade val="30000"/>
                  <a:satMod val="115000"/>
                </a:schemeClr>
              </a:gs>
              <a:gs pos="50000">
                <a:schemeClr val="tx1">
                  <a:lumMod val="65000"/>
                  <a:lumOff val="35000"/>
                  <a:shade val="67500"/>
                  <a:satMod val="115000"/>
                </a:schemeClr>
              </a:gs>
              <a:gs pos="100000">
                <a:schemeClr val="tx1">
                  <a:lumMod val="65000"/>
                  <a:lumOff val="35000"/>
                  <a:shade val="100000"/>
                  <a:satMod val="115000"/>
                </a:schemeClr>
              </a:gs>
            </a:gsLst>
            <a:lin ang="5400000" scaled="1"/>
            <a:tileRect/>
          </a:gra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tx1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4D8CD45-BA38-D304-545C-012DB5EB80C7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56144" y="-327668"/>
            <a:ext cx="12288228" cy="9212383"/>
          </a:xfrm>
          <a:prstGeom prst="rect">
            <a:avLst/>
          </a:prstGeom>
        </p:spPr>
      </p:pic>
      <p:sp>
        <p:nvSpPr>
          <p:cNvPr id="3" name="Block Arc 2">
            <a:extLst>
              <a:ext uri="{FF2B5EF4-FFF2-40B4-BE49-F238E27FC236}">
                <a16:creationId xmlns:a16="http://schemas.microsoft.com/office/drawing/2014/main" id="{A8226683-CBB0-8C66-D783-223581D882CC}"/>
              </a:ext>
            </a:extLst>
          </p:cNvPr>
          <p:cNvSpPr/>
          <p:nvPr/>
        </p:nvSpPr>
        <p:spPr>
          <a:xfrm rot="3365044">
            <a:off x="-2527300" y="177359"/>
            <a:ext cx="6679362" cy="6503280"/>
          </a:xfrm>
          <a:prstGeom prst="blockArc">
            <a:avLst>
              <a:gd name="adj1" fmla="val 19460416"/>
              <a:gd name="adj2" fmla="val 416114"/>
              <a:gd name="adj3" fmla="val 30569"/>
            </a:avLst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FCF9256-F417-00EB-3D63-86609EEC1530}"/>
              </a:ext>
            </a:extLst>
          </p:cNvPr>
          <p:cNvSpPr txBox="1"/>
          <p:nvPr/>
        </p:nvSpPr>
        <p:spPr>
          <a:xfrm>
            <a:off x="3595768" y="1219988"/>
            <a:ext cx="8818322" cy="20928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Demo Screenshot: Contact / Booking Page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pPr algn="ctr"/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Customer inquiry and booking request interface</a:t>
            </a:r>
          </a:p>
          <a:p>
            <a:pPr algn="ctr"/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Designed for user communication</a:t>
            </a:r>
          </a:p>
          <a:p>
            <a:pPr algn="ctr"/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Supports rental service interaction</a:t>
            </a:r>
          </a:p>
          <a:p>
            <a:pPr algn="ctr"/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Simple and accessible layout</a:t>
            </a:r>
          </a:p>
          <a:p>
            <a:pPr algn="just"/>
            <a:endParaRPr lang="en-GB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53B952D0-BF52-E67C-C220-884B3827335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30881" y="2215226"/>
            <a:ext cx="762863" cy="762863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56E47C16-C9C2-C145-07AC-9F8437F92D1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7089" y="743036"/>
            <a:ext cx="817408" cy="817408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9362B275-8D84-222C-B2B2-23E612FB5F91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20333" y="1156280"/>
            <a:ext cx="706119" cy="706119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10563974-44FE-446D-C6B2-AD74CD3C2DB9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18566" y="3586390"/>
            <a:ext cx="721514" cy="721514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27089E9F-B7F1-55AE-9A38-A0F8A2D568F4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035502" y="4472188"/>
            <a:ext cx="1176810" cy="1176810"/>
          </a:xfrm>
          <a:prstGeom prst="rect">
            <a:avLst/>
          </a:prstGeom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3AE647C9-B952-AEE1-42C4-C5F5E2FA2F1D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34941" y="5273306"/>
            <a:ext cx="841658" cy="841658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7B6886F7-67BD-CC93-29C1-E88705814BF0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 rot="15781008">
            <a:off x="640212" y="3219096"/>
            <a:ext cx="1055797" cy="10557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3831331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C960EC-C600-6FE8-0B9D-A3CC5729D7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4" descr="This may contain: an abstract red background with lines and stars">
            <a:extLst>
              <a:ext uri="{FF2B5EF4-FFF2-40B4-BE49-F238E27FC236}">
                <a16:creationId xmlns:a16="http://schemas.microsoft.com/office/drawing/2014/main" id="{16AC5BC3-36B3-97B8-BD0D-C1568651D3D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alphaModFix amt="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2641600"/>
            <a:ext cx="12192000" cy="12192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6" name="Circle: Hollow 25">
            <a:extLst>
              <a:ext uri="{FF2B5EF4-FFF2-40B4-BE49-F238E27FC236}">
                <a16:creationId xmlns:a16="http://schemas.microsoft.com/office/drawing/2014/main" id="{AB1C66CE-5ADB-6B58-D5CD-43CE9C7EDB20}"/>
              </a:ext>
            </a:extLst>
          </p:cNvPr>
          <p:cNvSpPr/>
          <p:nvPr/>
        </p:nvSpPr>
        <p:spPr>
          <a:xfrm>
            <a:off x="-2376622" y="440054"/>
            <a:ext cx="6389370" cy="5977890"/>
          </a:xfrm>
          <a:prstGeom prst="donut">
            <a:avLst/>
          </a:prstGeom>
          <a:gradFill flip="none" rotWithShape="1">
            <a:gsLst>
              <a:gs pos="0">
                <a:schemeClr val="tx1">
                  <a:lumMod val="65000"/>
                  <a:lumOff val="35000"/>
                  <a:shade val="30000"/>
                  <a:satMod val="115000"/>
                </a:schemeClr>
              </a:gs>
              <a:gs pos="50000">
                <a:schemeClr val="tx1">
                  <a:lumMod val="65000"/>
                  <a:lumOff val="35000"/>
                  <a:shade val="67500"/>
                  <a:satMod val="115000"/>
                </a:schemeClr>
              </a:gs>
              <a:gs pos="100000">
                <a:schemeClr val="tx1">
                  <a:lumMod val="65000"/>
                  <a:lumOff val="35000"/>
                  <a:shade val="100000"/>
                  <a:satMod val="115000"/>
                </a:schemeClr>
              </a:gs>
            </a:gsLst>
            <a:lin ang="5400000" scaled="1"/>
            <a:tileRect/>
          </a:gra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tx1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1D05638-AE2E-2B64-8F64-1BCB6103ED3F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68670" y="-327668"/>
            <a:ext cx="12288228" cy="9212383"/>
          </a:xfrm>
          <a:prstGeom prst="rect">
            <a:avLst/>
          </a:prstGeom>
        </p:spPr>
      </p:pic>
      <p:sp>
        <p:nvSpPr>
          <p:cNvPr id="3" name="Block Arc 2">
            <a:extLst>
              <a:ext uri="{FF2B5EF4-FFF2-40B4-BE49-F238E27FC236}">
                <a16:creationId xmlns:a16="http://schemas.microsoft.com/office/drawing/2014/main" id="{213C68CB-8DD7-4880-A567-D78BB23D2455}"/>
              </a:ext>
            </a:extLst>
          </p:cNvPr>
          <p:cNvSpPr/>
          <p:nvPr/>
        </p:nvSpPr>
        <p:spPr>
          <a:xfrm rot="5793163">
            <a:off x="-2527300" y="177359"/>
            <a:ext cx="6679362" cy="6503280"/>
          </a:xfrm>
          <a:prstGeom prst="blockArc">
            <a:avLst>
              <a:gd name="adj1" fmla="val 19460416"/>
              <a:gd name="adj2" fmla="val 416114"/>
              <a:gd name="adj3" fmla="val 30569"/>
            </a:avLst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45E0DA7-51F2-FF28-EF92-036D13AD6CDE}"/>
              </a:ext>
            </a:extLst>
          </p:cNvPr>
          <p:cNvSpPr txBox="1"/>
          <p:nvPr/>
        </p:nvSpPr>
        <p:spPr>
          <a:xfrm>
            <a:off x="3957874" y="1365855"/>
            <a:ext cx="823412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Excel Data Overview</a:t>
            </a:r>
          </a:p>
        </p:txBody>
      </p:sp>
      <p:sp>
        <p:nvSpPr>
          <p:cNvPr id="9" name="Rectangle 1">
            <a:extLst>
              <a:ext uri="{FF2B5EF4-FFF2-40B4-BE49-F238E27FC236}">
                <a16:creationId xmlns:a16="http://schemas.microsoft.com/office/drawing/2014/main" id="{50ED416A-9DFF-0909-509A-1B5C3512DB4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15693" y="1853991"/>
            <a:ext cx="4764446" cy="224676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Excel used as </a:t>
            </a: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data backbone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of the project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Tracks: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Vehicle brand &amp; model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Daily rent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Vehicle category (Luxury / Normal)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Availability status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Enables </a:t>
            </a: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income calculation and analysis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7B6CDC46-E045-B8E2-DAC2-A2914149DF8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30881" y="2215226"/>
            <a:ext cx="762863" cy="762863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7E0384C1-FE97-30D7-321F-318E9B92B15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7089" y="743036"/>
            <a:ext cx="817408" cy="817408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C74BAAB6-AFB5-7949-E118-B4B77F5B9E4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26120" y="1147872"/>
            <a:ext cx="706119" cy="706119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0E6C1373-DB2D-DDC6-EFC7-B874133C8996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18566" y="3586390"/>
            <a:ext cx="721514" cy="721514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C9F1C901-A888-2EDA-8F5B-91F3724CF3B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207371" y="4753261"/>
            <a:ext cx="761299" cy="761299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9D293BB1-7239-5E14-3ECC-C748F97F078B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76197" y="5149410"/>
            <a:ext cx="1166122" cy="1166122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455AFA88-58B6-5CE2-8598-204FF4C4087C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 rot="18721281">
            <a:off x="403665" y="3414210"/>
            <a:ext cx="1055797" cy="10557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5643187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6B6F37-7242-33FF-ABD9-96CD721623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" name="Picture 4" descr="This may contain: an abstract red background with lines and stars">
            <a:extLst>
              <a:ext uri="{FF2B5EF4-FFF2-40B4-BE49-F238E27FC236}">
                <a16:creationId xmlns:a16="http://schemas.microsoft.com/office/drawing/2014/main" id="{9773F247-A178-4BC2-120D-32FB4F7B0DB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alphaModFix amt="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2641600"/>
            <a:ext cx="12192000" cy="12192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8" name="Circle: Hollow 17">
            <a:extLst>
              <a:ext uri="{FF2B5EF4-FFF2-40B4-BE49-F238E27FC236}">
                <a16:creationId xmlns:a16="http://schemas.microsoft.com/office/drawing/2014/main" id="{6DA6C405-765D-30C3-B356-16957A791F47}"/>
              </a:ext>
            </a:extLst>
          </p:cNvPr>
          <p:cNvSpPr/>
          <p:nvPr/>
        </p:nvSpPr>
        <p:spPr>
          <a:xfrm>
            <a:off x="-2376622" y="440054"/>
            <a:ext cx="6389370" cy="5977890"/>
          </a:xfrm>
          <a:prstGeom prst="donut">
            <a:avLst/>
          </a:prstGeom>
          <a:gradFill flip="none" rotWithShape="1">
            <a:gsLst>
              <a:gs pos="0">
                <a:schemeClr val="tx1">
                  <a:lumMod val="65000"/>
                  <a:lumOff val="35000"/>
                  <a:shade val="30000"/>
                  <a:satMod val="115000"/>
                </a:schemeClr>
              </a:gs>
              <a:gs pos="50000">
                <a:schemeClr val="tx1">
                  <a:lumMod val="65000"/>
                  <a:lumOff val="35000"/>
                  <a:shade val="67500"/>
                  <a:satMod val="115000"/>
                </a:schemeClr>
              </a:gs>
              <a:gs pos="100000">
                <a:schemeClr val="tx1">
                  <a:lumMod val="65000"/>
                  <a:lumOff val="35000"/>
                  <a:shade val="100000"/>
                  <a:satMod val="115000"/>
                </a:schemeClr>
              </a:gs>
            </a:gsLst>
            <a:lin ang="5400000" scaled="1"/>
            <a:tileRect/>
          </a:gra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tx1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7B2C11C-8E20-23CB-CD8B-B68408B8974C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68670" y="-327668"/>
            <a:ext cx="12288228" cy="9212383"/>
          </a:xfrm>
          <a:prstGeom prst="rect">
            <a:avLst/>
          </a:prstGeom>
        </p:spPr>
      </p:pic>
      <p:sp>
        <p:nvSpPr>
          <p:cNvPr id="3" name="Block Arc 2">
            <a:extLst>
              <a:ext uri="{FF2B5EF4-FFF2-40B4-BE49-F238E27FC236}">
                <a16:creationId xmlns:a16="http://schemas.microsoft.com/office/drawing/2014/main" id="{F1CC1853-A583-BECE-43AC-D963871DFD7A}"/>
              </a:ext>
            </a:extLst>
          </p:cNvPr>
          <p:cNvSpPr/>
          <p:nvPr/>
        </p:nvSpPr>
        <p:spPr>
          <a:xfrm rot="17268245">
            <a:off x="-2527300" y="177359"/>
            <a:ext cx="6679362" cy="6503280"/>
          </a:xfrm>
          <a:prstGeom prst="blockArc">
            <a:avLst>
              <a:gd name="adj1" fmla="val 19460416"/>
              <a:gd name="adj2" fmla="val 416114"/>
              <a:gd name="adj3" fmla="val 30569"/>
            </a:avLst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C6E2C2B-158D-6C89-229C-E59555FB973C}"/>
              </a:ext>
            </a:extLst>
          </p:cNvPr>
          <p:cNvSpPr txBox="1"/>
          <p:nvPr/>
        </p:nvSpPr>
        <p:spPr>
          <a:xfrm>
            <a:off x="4232886" y="1365855"/>
            <a:ext cx="76657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Key Data from Excel</a:t>
            </a:r>
          </a:p>
        </p:txBody>
      </p:sp>
      <p:sp>
        <p:nvSpPr>
          <p:cNvPr id="8" name="Rectangle 1">
            <a:extLst>
              <a:ext uri="{FF2B5EF4-FFF2-40B4-BE49-F238E27FC236}">
                <a16:creationId xmlns:a16="http://schemas.microsoft.com/office/drawing/2014/main" id="{195F84A6-161F-6C49-DD9F-DC0E1D1FD9C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622429" y="1870641"/>
            <a:ext cx="6876498" cy="163121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Total vehicles: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29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Luxury cars: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21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Normal cars: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8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Brands covered: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Toyota, BMW, Audi, Honda, Hyundai, Suzuki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Average monthly income per vehicle: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214,534 PKR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1C520DDA-63EA-4FFD-38FA-A62C749E2C2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6984" y="560441"/>
            <a:ext cx="1302507" cy="1302507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C00FD09E-3FE9-DADA-B4C1-BEC2FEFCEF8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79112" y="1328485"/>
            <a:ext cx="808093" cy="808093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E4706369-3642-DCB1-228E-A2F86637D24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668044" y="2379812"/>
            <a:ext cx="1005388" cy="1005388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C7826973-85C8-638C-6A6F-B9FEEC3E40A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668044" y="3852677"/>
            <a:ext cx="1005388" cy="1005388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08473119-3741-FB2E-2A73-41C45A2D7E7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716066" y="5026510"/>
            <a:ext cx="739272" cy="739272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08A05C23-FCCE-30E6-8E7E-A9232D88A928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25468" y="5206303"/>
            <a:ext cx="882394" cy="882394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ECC8ABC5-4F56-4B6A-36E8-88B1CF5ED44F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 rot="8124388">
            <a:off x="342219" y="2355223"/>
            <a:ext cx="1055797" cy="10557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525303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9A66BF-CD03-B494-DB5C-86BA0840EE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Picture 4" descr="This may contain: an abstract red background with lines and stars">
            <a:extLst>
              <a:ext uri="{FF2B5EF4-FFF2-40B4-BE49-F238E27FC236}">
                <a16:creationId xmlns:a16="http://schemas.microsoft.com/office/drawing/2014/main" id="{461B5AEB-9F31-9B1E-80A2-F1DDDF18032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alphaModFix amt="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2641600"/>
            <a:ext cx="12192000" cy="12192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9" name="Circle: Hollow 18">
            <a:extLst>
              <a:ext uri="{FF2B5EF4-FFF2-40B4-BE49-F238E27FC236}">
                <a16:creationId xmlns:a16="http://schemas.microsoft.com/office/drawing/2014/main" id="{63005D48-B92C-1541-DB27-D0572DC9E339}"/>
              </a:ext>
            </a:extLst>
          </p:cNvPr>
          <p:cNvSpPr/>
          <p:nvPr/>
        </p:nvSpPr>
        <p:spPr>
          <a:xfrm>
            <a:off x="-2376622" y="440054"/>
            <a:ext cx="6389370" cy="5977890"/>
          </a:xfrm>
          <a:prstGeom prst="donut">
            <a:avLst/>
          </a:prstGeom>
          <a:gradFill flip="none" rotWithShape="1">
            <a:gsLst>
              <a:gs pos="0">
                <a:schemeClr val="tx1">
                  <a:lumMod val="65000"/>
                  <a:lumOff val="35000"/>
                  <a:shade val="30000"/>
                  <a:satMod val="115000"/>
                </a:schemeClr>
              </a:gs>
              <a:gs pos="50000">
                <a:schemeClr val="tx1">
                  <a:lumMod val="65000"/>
                  <a:lumOff val="35000"/>
                  <a:shade val="67500"/>
                  <a:satMod val="115000"/>
                </a:schemeClr>
              </a:gs>
              <a:gs pos="100000">
                <a:schemeClr val="tx1">
                  <a:lumMod val="65000"/>
                  <a:lumOff val="35000"/>
                  <a:shade val="100000"/>
                  <a:satMod val="115000"/>
                </a:schemeClr>
              </a:gs>
            </a:gsLst>
            <a:lin ang="5400000" scaled="1"/>
            <a:tileRect/>
          </a:gra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tx1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54B8F48-CD73-554D-103F-83F4BC04AF6E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68670" y="-327668"/>
            <a:ext cx="12288228" cy="9212383"/>
          </a:xfrm>
          <a:prstGeom prst="rect">
            <a:avLst/>
          </a:prstGeom>
        </p:spPr>
      </p:pic>
      <p:sp>
        <p:nvSpPr>
          <p:cNvPr id="3" name="Block Arc 2">
            <a:extLst>
              <a:ext uri="{FF2B5EF4-FFF2-40B4-BE49-F238E27FC236}">
                <a16:creationId xmlns:a16="http://schemas.microsoft.com/office/drawing/2014/main" id="{386EB74E-6AB5-4F49-99B6-CF2E0DA87515}"/>
              </a:ext>
            </a:extLst>
          </p:cNvPr>
          <p:cNvSpPr/>
          <p:nvPr/>
        </p:nvSpPr>
        <p:spPr>
          <a:xfrm rot="19628668">
            <a:off x="-2527300" y="177359"/>
            <a:ext cx="6679362" cy="6503280"/>
          </a:xfrm>
          <a:prstGeom prst="blockArc">
            <a:avLst>
              <a:gd name="adj1" fmla="val 19460416"/>
              <a:gd name="adj2" fmla="val 416114"/>
              <a:gd name="adj3" fmla="val 30569"/>
            </a:avLst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83786B1-7015-15FB-E324-1F42F7C0B065}"/>
              </a:ext>
            </a:extLst>
          </p:cNvPr>
          <p:cNvSpPr txBox="1"/>
          <p:nvPr/>
        </p:nvSpPr>
        <p:spPr>
          <a:xfrm>
            <a:off x="4654080" y="1340455"/>
            <a:ext cx="716126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Chart from Excel (Required)</a:t>
            </a:r>
          </a:p>
        </p:txBody>
      </p:sp>
      <p:sp>
        <p:nvSpPr>
          <p:cNvPr id="8" name="Rectangle 1">
            <a:extLst>
              <a:ext uri="{FF2B5EF4-FFF2-40B4-BE49-F238E27FC236}">
                <a16:creationId xmlns:a16="http://schemas.microsoft.com/office/drawing/2014/main" id="{7DD06D3A-0F52-AB83-8C69-0A2ED6B99DB3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62730" y="1809731"/>
            <a:ext cx="4346063" cy="163121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Easy communication across languages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More access for people with disabilities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Saves time and effort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Better quality of messages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Helps learning and teamwork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38C6757D-F86E-E9C4-82E3-1E8A584C1B7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3169" y="837315"/>
            <a:ext cx="858033" cy="858033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20D0E0DD-93A2-4660-1D30-AB10BE6FDC9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42534" y="1141803"/>
            <a:ext cx="1145088" cy="1145088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A1C1D040-40A5-463F-D3FC-2C82C7835DD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668044" y="2379812"/>
            <a:ext cx="1005388" cy="1005388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85150310-7AE7-E0E3-6954-EEFDF427C921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668044" y="3852677"/>
            <a:ext cx="1005388" cy="1005388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C059B999-E09F-C6A5-BF3D-FBE3020F4C31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716066" y="5026510"/>
            <a:ext cx="739272" cy="739272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029DE653-28F0-B815-AF4E-6877F4465713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25468" y="5206303"/>
            <a:ext cx="882394" cy="882394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1B49EA4F-875D-8AA5-CA6F-8C69CAF95AE8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 rot="11040610">
            <a:off x="535168" y="2432113"/>
            <a:ext cx="1055797" cy="10557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495678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120E87-4E9E-1A29-6AAE-82AE621B9D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Picture 4" descr="This may contain: an abstract red background with lines and stars">
            <a:extLst>
              <a:ext uri="{FF2B5EF4-FFF2-40B4-BE49-F238E27FC236}">
                <a16:creationId xmlns:a16="http://schemas.microsoft.com/office/drawing/2014/main" id="{30777993-1773-C44B-81D2-4DB71935CBF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alphaModFix amt="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40" y="-2667000"/>
            <a:ext cx="12192000" cy="12192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4" name="Circle: Hollow 33">
            <a:extLst>
              <a:ext uri="{FF2B5EF4-FFF2-40B4-BE49-F238E27FC236}">
                <a16:creationId xmlns:a16="http://schemas.microsoft.com/office/drawing/2014/main" id="{ECC76493-A414-6AA1-2633-23874F1B4958}"/>
              </a:ext>
            </a:extLst>
          </p:cNvPr>
          <p:cNvSpPr/>
          <p:nvPr/>
        </p:nvSpPr>
        <p:spPr>
          <a:xfrm>
            <a:off x="-2376622" y="440054"/>
            <a:ext cx="6389370" cy="5977890"/>
          </a:xfrm>
          <a:prstGeom prst="donut">
            <a:avLst/>
          </a:prstGeom>
          <a:gradFill flip="none" rotWithShape="1">
            <a:gsLst>
              <a:gs pos="0">
                <a:schemeClr val="tx1">
                  <a:lumMod val="65000"/>
                  <a:lumOff val="35000"/>
                  <a:shade val="30000"/>
                  <a:satMod val="115000"/>
                </a:schemeClr>
              </a:gs>
              <a:gs pos="50000">
                <a:schemeClr val="tx1">
                  <a:lumMod val="65000"/>
                  <a:lumOff val="35000"/>
                  <a:shade val="67500"/>
                  <a:satMod val="115000"/>
                </a:schemeClr>
              </a:gs>
              <a:gs pos="100000">
                <a:schemeClr val="tx1">
                  <a:lumMod val="65000"/>
                  <a:lumOff val="35000"/>
                  <a:shade val="100000"/>
                  <a:satMod val="115000"/>
                </a:schemeClr>
              </a:gs>
            </a:gsLst>
            <a:lin ang="5400000" scaled="1"/>
            <a:tileRect/>
          </a:gra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tx1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229BED0-6C0E-4EEC-EE30-4ACE8572407F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56144" y="-327668"/>
            <a:ext cx="12288228" cy="9212383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2272D43C-4869-17D7-14B0-6B243EE524FC}"/>
              </a:ext>
            </a:extLst>
          </p:cNvPr>
          <p:cNvSpPr txBox="1"/>
          <p:nvPr/>
        </p:nvSpPr>
        <p:spPr>
          <a:xfrm>
            <a:off x="5099277" y="1365855"/>
            <a:ext cx="661057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Financial Insights</a:t>
            </a:r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A381F128-C6F7-751C-EE9F-6C0817F93DBF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23992" y="1889075"/>
            <a:ext cx="6261651" cy="132343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Total monthly income: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6,221,500 PKR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Luxury vehicles contribute </a:t>
            </a: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major revenue share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High-end cars like Land Cruiser generate higher daily rent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Data helps in </a:t>
            </a: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pricing and inventory decisions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Block Arc 12">
            <a:extLst>
              <a:ext uri="{FF2B5EF4-FFF2-40B4-BE49-F238E27FC236}">
                <a16:creationId xmlns:a16="http://schemas.microsoft.com/office/drawing/2014/main" id="{B88519AD-16B2-3E4D-80FA-91B66CAF2CE8}"/>
              </a:ext>
            </a:extLst>
          </p:cNvPr>
          <p:cNvSpPr/>
          <p:nvPr/>
        </p:nvSpPr>
        <p:spPr>
          <a:xfrm>
            <a:off x="-2527300" y="177359"/>
            <a:ext cx="6679362" cy="6503280"/>
          </a:xfrm>
          <a:prstGeom prst="blockArc">
            <a:avLst>
              <a:gd name="adj1" fmla="val 19460416"/>
              <a:gd name="adj2" fmla="val 416114"/>
              <a:gd name="adj3" fmla="val 30569"/>
            </a:avLst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tx1"/>
              </a:solidFill>
            </a:endParaRPr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B484E6D3-6AA8-A5AC-4ACD-0460DEAC79D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3169" y="849841"/>
            <a:ext cx="858033" cy="858033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0739F292-E88E-D796-0E2C-82A1C242FBE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79112" y="1328485"/>
            <a:ext cx="808093" cy="808093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6399ADC5-857D-438A-81DA-52AF645243B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94486" y="2206254"/>
            <a:ext cx="1352504" cy="1352504"/>
          </a:xfrm>
          <a:prstGeom prst="rect">
            <a:avLst/>
          </a:prstGeom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BB6C83BB-0C8E-0620-2C2C-512FF585396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668044" y="3852677"/>
            <a:ext cx="1005388" cy="1005388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10DBA29B-DF8E-C46F-F89C-B97BD0D2D1F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716066" y="5026510"/>
            <a:ext cx="739272" cy="739272"/>
          </a:xfrm>
          <a:prstGeom prst="rect">
            <a:avLst/>
          </a:prstGeom>
        </p:spPr>
      </p:pic>
      <p:pic>
        <p:nvPicPr>
          <p:cNvPr id="32" name="Picture 31">
            <a:extLst>
              <a:ext uri="{FF2B5EF4-FFF2-40B4-BE49-F238E27FC236}">
                <a16:creationId xmlns:a16="http://schemas.microsoft.com/office/drawing/2014/main" id="{AE4EBB51-B3E4-5C98-39C3-0F8239E6D6DC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25468" y="5206303"/>
            <a:ext cx="882394" cy="882394"/>
          </a:xfrm>
          <a:prstGeom prst="rect">
            <a:avLst/>
          </a:prstGeom>
        </p:spPr>
      </p:pic>
      <p:pic>
        <p:nvPicPr>
          <p:cNvPr id="33" name="Picture 32">
            <a:extLst>
              <a:ext uri="{FF2B5EF4-FFF2-40B4-BE49-F238E27FC236}">
                <a16:creationId xmlns:a16="http://schemas.microsoft.com/office/drawing/2014/main" id="{034DDF8D-AEE1-FAFB-DAA4-662FC869ED0F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 rot="12700311">
            <a:off x="673303" y="2749397"/>
            <a:ext cx="1055797" cy="10557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5765229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BDEE7E-6982-ABFA-6237-0490DF9A34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Picture 4" descr="This may contain: an abstract red background with lines and stars">
            <a:extLst>
              <a:ext uri="{FF2B5EF4-FFF2-40B4-BE49-F238E27FC236}">
                <a16:creationId xmlns:a16="http://schemas.microsoft.com/office/drawing/2014/main" id="{9DC3A327-7A48-BAC9-80DD-7E8750F4D11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alphaModFix amt="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2571130"/>
            <a:ext cx="12192000" cy="12192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5" name="Circle: Hollow 24">
            <a:extLst>
              <a:ext uri="{FF2B5EF4-FFF2-40B4-BE49-F238E27FC236}">
                <a16:creationId xmlns:a16="http://schemas.microsoft.com/office/drawing/2014/main" id="{A6F728B9-FA10-C1F9-DC29-8D4241A56E40}"/>
              </a:ext>
            </a:extLst>
          </p:cNvPr>
          <p:cNvSpPr/>
          <p:nvPr/>
        </p:nvSpPr>
        <p:spPr>
          <a:xfrm>
            <a:off x="-2376622" y="440054"/>
            <a:ext cx="6389370" cy="5977890"/>
          </a:xfrm>
          <a:prstGeom prst="donut">
            <a:avLst/>
          </a:prstGeom>
          <a:gradFill flip="none" rotWithShape="1">
            <a:gsLst>
              <a:gs pos="0">
                <a:schemeClr val="tx1">
                  <a:lumMod val="65000"/>
                  <a:lumOff val="35000"/>
                  <a:shade val="30000"/>
                  <a:satMod val="115000"/>
                </a:schemeClr>
              </a:gs>
              <a:gs pos="50000">
                <a:schemeClr val="tx1">
                  <a:lumMod val="65000"/>
                  <a:lumOff val="35000"/>
                  <a:shade val="67500"/>
                  <a:satMod val="115000"/>
                </a:schemeClr>
              </a:gs>
              <a:gs pos="100000">
                <a:schemeClr val="tx1">
                  <a:lumMod val="65000"/>
                  <a:lumOff val="35000"/>
                  <a:shade val="100000"/>
                  <a:satMod val="115000"/>
                </a:schemeClr>
              </a:gs>
            </a:gsLst>
            <a:lin ang="5400000" scaled="1"/>
            <a:tileRect/>
          </a:gra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tx1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D08C4D8-AD1F-FBEE-A09B-CE597318CA54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68670" y="-327668"/>
            <a:ext cx="12288228" cy="9212383"/>
          </a:xfrm>
          <a:prstGeom prst="rect">
            <a:avLst/>
          </a:prstGeom>
        </p:spPr>
      </p:pic>
      <p:sp>
        <p:nvSpPr>
          <p:cNvPr id="3" name="Block Arc 2">
            <a:extLst>
              <a:ext uri="{FF2B5EF4-FFF2-40B4-BE49-F238E27FC236}">
                <a16:creationId xmlns:a16="http://schemas.microsoft.com/office/drawing/2014/main" id="{B7994500-B77E-3B5E-8742-E795ADD48E23}"/>
              </a:ext>
            </a:extLst>
          </p:cNvPr>
          <p:cNvSpPr/>
          <p:nvPr/>
        </p:nvSpPr>
        <p:spPr>
          <a:xfrm rot="2179858">
            <a:off x="-2527300" y="177359"/>
            <a:ext cx="6679362" cy="6503280"/>
          </a:xfrm>
          <a:prstGeom prst="blockArc">
            <a:avLst>
              <a:gd name="adj1" fmla="val 19460416"/>
              <a:gd name="adj2" fmla="val 416114"/>
              <a:gd name="adj3" fmla="val 30569"/>
            </a:avLst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F2F9B3D-7B6D-1204-A423-0E8E983BB828}"/>
              </a:ext>
            </a:extLst>
          </p:cNvPr>
          <p:cNvSpPr txBox="1"/>
          <p:nvPr/>
        </p:nvSpPr>
        <p:spPr>
          <a:xfrm>
            <a:off x="4164553" y="1400907"/>
            <a:ext cx="77800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Design Decisions</a:t>
            </a:r>
          </a:p>
        </p:txBody>
      </p:sp>
      <p:sp>
        <p:nvSpPr>
          <p:cNvPr id="8" name="Rectangle 1">
            <a:extLst>
              <a:ext uri="{FF2B5EF4-FFF2-40B4-BE49-F238E27FC236}">
                <a16:creationId xmlns:a16="http://schemas.microsoft.com/office/drawing/2014/main" id="{D0E3C3F5-AE40-AC1A-6CD2-5964AC287FC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20293" y="1924127"/>
            <a:ext cx="5668539" cy="132343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Luxury-focused typography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for premium branding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Alternating brand sections for visual balance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Sticky navigation bar improves usability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Consistent color theme for professional look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38076AF-F90F-067F-84C5-7A47229A534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3169" y="849841"/>
            <a:ext cx="858033" cy="85803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0697CAB5-644C-53D7-9605-AB0378C89AA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79112" y="1328485"/>
            <a:ext cx="808093" cy="808093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FE62E2E7-1A6B-DF47-D1E2-09B1B930A09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668044" y="2379812"/>
            <a:ext cx="1005388" cy="1005388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16A0F074-8ABA-D660-4F39-3A1199C3D77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561138" y="3745771"/>
            <a:ext cx="1219200" cy="1219200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CBB1604C-66F4-3A87-167E-5D565066B49D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716066" y="5026510"/>
            <a:ext cx="739272" cy="739272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5A6457AD-0CD8-9C7F-8584-DCD20EBAC2B5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25468" y="5206303"/>
            <a:ext cx="882394" cy="882394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6AF8F2F0-B3F6-D463-FDFA-8E911A640EE9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 rot="14808705">
            <a:off x="723606" y="3057510"/>
            <a:ext cx="1055797" cy="10557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2030949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54AAE5-27AC-DFAD-BF99-615F3DF5EA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Picture 4" descr="This may contain: an abstract red background with lines and stars">
            <a:extLst>
              <a:ext uri="{FF2B5EF4-FFF2-40B4-BE49-F238E27FC236}">
                <a16:creationId xmlns:a16="http://schemas.microsoft.com/office/drawing/2014/main" id="{2AB9C659-2427-5756-AFC2-78B4FE66C04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alphaModFix amt="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2628900"/>
            <a:ext cx="12192000" cy="12192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1" name="Circle: Hollow 30">
            <a:extLst>
              <a:ext uri="{FF2B5EF4-FFF2-40B4-BE49-F238E27FC236}">
                <a16:creationId xmlns:a16="http://schemas.microsoft.com/office/drawing/2014/main" id="{0054333C-0273-FD13-28C4-BE0AB9A115EB}"/>
              </a:ext>
            </a:extLst>
          </p:cNvPr>
          <p:cNvSpPr/>
          <p:nvPr/>
        </p:nvSpPr>
        <p:spPr>
          <a:xfrm>
            <a:off x="-2376622" y="440054"/>
            <a:ext cx="6389370" cy="5977890"/>
          </a:xfrm>
          <a:prstGeom prst="donut">
            <a:avLst/>
          </a:prstGeom>
          <a:gradFill flip="none" rotWithShape="1">
            <a:gsLst>
              <a:gs pos="0">
                <a:schemeClr val="tx1">
                  <a:lumMod val="65000"/>
                  <a:lumOff val="35000"/>
                  <a:shade val="30000"/>
                  <a:satMod val="115000"/>
                </a:schemeClr>
              </a:gs>
              <a:gs pos="50000">
                <a:schemeClr val="tx1">
                  <a:lumMod val="65000"/>
                  <a:lumOff val="35000"/>
                  <a:shade val="67500"/>
                  <a:satMod val="115000"/>
                </a:schemeClr>
              </a:gs>
              <a:gs pos="100000">
                <a:schemeClr val="tx1">
                  <a:lumMod val="65000"/>
                  <a:lumOff val="35000"/>
                  <a:shade val="100000"/>
                  <a:satMod val="115000"/>
                </a:schemeClr>
              </a:gs>
            </a:gsLst>
            <a:lin ang="5400000" scaled="1"/>
            <a:tileRect/>
          </a:gra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tx1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CC3A01B-69F8-C176-479C-7241DE7175FE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68670" y="-327668"/>
            <a:ext cx="12288228" cy="9212383"/>
          </a:xfrm>
          <a:prstGeom prst="rect">
            <a:avLst/>
          </a:prstGeom>
        </p:spPr>
      </p:pic>
      <p:sp>
        <p:nvSpPr>
          <p:cNvPr id="3" name="Block Arc 2">
            <a:extLst>
              <a:ext uri="{FF2B5EF4-FFF2-40B4-BE49-F238E27FC236}">
                <a16:creationId xmlns:a16="http://schemas.microsoft.com/office/drawing/2014/main" id="{E8966674-E516-7A26-B0E6-E63DE78DCD96}"/>
              </a:ext>
            </a:extLst>
          </p:cNvPr>
          <p:cNvSpPr/>
          <p:nvPr/>
        </p:nvSpPr>
        <p:spPr>
          <a:xfrm rot="4126043">
            <a:off x="-2527300" y="177359"/>
            <a:ext cx="6679362" cy="6503280"/>
          </a:xfrm>
          <a:prstGeom prst="blockArc">
            <a:avLst>
              <a:gd name="adj1" fmla="val 19460416"/>
              <a:gd name="adj2" fmla="val 416114"/>
              <a:gd name="adj3" fmla="val 30569"/>
            </a:avLst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CF558F5-3BC3-91F7-BB5B-2D4597542B32}"/>
              </a:ext>
            </a:extLst>
          </p:cNvPr>
          <p:cNvSpPr txBox="1"/>
          <p:nvPr/>
        </p:nvSpPr>
        <p:spPr>
          <a:xfrm>
            <a:off x="3881628" y="1380269"/>
            <a:ext cx="8818322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Tools &amp; Technologies Used</a:t>
            </a:r>
          </a:p>
          <a:p>
            <a:pPr algn="ctr"/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HTML &amp; CSS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→ Website development</a:t>
            </a:r>
          </a:p>
          <a:p>
            <a:pPr algn="ctr"/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Microsoft Excel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→ Data analysis &amp; charts</a:t>
            </a:r>
          </a:p>
          <a:p>
            <a:pPr algn="ctr"/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Microsoft Word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→ Documentation</a:t>
            </a:r>
          </a:p>
          <a:p>
            <a:pPr algn="ctr"/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GitHub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→ Version control &amp; live hosting.</a:t>
            </a: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20CD10BE-7FA5-1EC4-0397-32408567FD1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3169" y="849841"/>
            <a:ext cx="858033" cy="858033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F77A8A02-EA9B-0D3B-ED99-7764228D32C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79112" y="1328485"/>
            <a:ext cx="808093" cy="808093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0C041AD3-DBF7-9662-ED5F-7E8EDD2D6F2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668044" y="2379812"/>
            <a:ext cx="1005388" cy="1005388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AD025B43-C04D-F227-B593-EA4D90B55FD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668044" y="3714891"/>
            <a:ext cx="1005388" cy="1005388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A1EEC3C3-CB80-4040-45BF-7B7719A36FED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540819" y="4776107"/>
            <a:ext cx="1189973" cy="1189973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E58236BB-803A-EA9F-1515-6C7C07C8E423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25468" y="5206303"/>
            <a:ext cx="882394" cy="882394"/>
          </a:xfrm>
          <a:prstGeom prst="rect">
            <a:avLst/>
          </a:prstGeom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51C094D7-55B6-169D-7EC3-8E4BCFBB85E7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 rot="16497101">
            <a:off x="564904" y="3292854"/>
            <a:ext cx="1055797" cy="10557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7799845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C7C269-5864-8074-D57B-C4A5DBACD9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06870327-461E-F5FC-C7E0-5643387FE639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68670" y="-327668"/>
            <a:ext cx="12288228" cy="9212383"/>
          </a:xfrm>
          <a:prstGeom prst="rect">
            <a:avLst/>
          </a:prstGeom>
        </p:spPr>
      </p:pic>
      <p:pic>
        <p:nvPicPr>
          <p:cNvPr id="22" name="Picture 4" descr="This may contain: an abstract red background with lines and stars">
            <a:extLst>
              <a:ext uri="{FF2B5EF4-FFF2-40B4-BE49-F238E27FC236}">
                <a16:creationId xmlns:a16="http://schemas.microsoft.com/office/drawing/2014/main" id="{CAFE8B86-873B-2E8D-F4CE-9BCD609EB3A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alphaModFix amt="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2641600"/>
            <a:ext cx="12192000" cy="12192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Circle: Hollow 1">
            <a:extLst>
              <a:ext uri="{FF2B5EF4-FFF2-40B4-BE49-F238E27FC236}">
                <a16:creationId xmlns:a16="http://schemas.microsoft.com/office/drawing/2014/main" id="{03AB1FC7-D94E-D309-F973-F0E0B81888BE}"/>
              </a:ext>
            </a:extLst>
          </p:cNvPr>
          <p:cNvSpPr/>
          <p:nvPr/>
        </p:nvSpPr>
        <p:spPr>
          <a:xfrm>
            <a:off x="-2376622" y="440054"/>
            <a:ext cx="6389370" cy="5977890"/>
          </a:xfrm>
          <a:prstGeom prst="donut">
            <a:avLst/>
          </a:prstGeom>
          <a:gradFill flip="none" rotWithShape="1">
            <a:gsLst>
              <a:gs pos="0">
                <a:schemeClr val="tx1">
                  <a:lumMod val="65000"/>
                  <a:lumOff val="35000"/>
                  <a:shade val="30000"/>
                  <a:satMod val="115000"/>
                </a:schemeClr>
              </a:gs>
              <a:gs pos="50000">
                <a:schemeClr val="tx1">
                  <a:lumMod val="65000"/>
                  <a:lumOff val="35000"/>
                  <a:shade val="67500"/>
                  <a:satMod val="115000"/>
                </a:schemeClr>
              </a:gs>
              <a:gs pos="100000">
                <a:schemeClr val="tx1">
                  <a:lumMod val="65000"/>
                  <a:lumOff val="35000"/>
                  <a:shade val="100000"/>
                  <a:satMod val="115000"/>
                </a:schemeClr>
              </a:gs>
            </a:gsLst>
            <a:lin ang="5400000" scaled="1"/>
            <a:tileRect/>
          </a:gra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3" name="Block Arc 2">
            <a:extLst>
              <a:ext uri="{FF2B5EF4-FFF2-40B4-BE49-F238E27FC236}">
                <a16:creationId xmlns:a16="http://schemas.microsoft.com/office/drawing/2014/main" id="{3901E545-EB41-2B93-4CC2-B28326F48F86}"/>
              </a:ext>
            </a:extLst>
          </p:cNvPr>
          <p:cNvSpPr/>
          <p:nvPr/>
        </p:nvSpPr>
        <p:spPr>
          <a:xfrm rot="6383615">
            <a:off x="-2527300" y="177359"/>
            <a:ext cx="6679362" cy="6503280"/>
          </a:xfrm>
          <a:prstGeom prst="blockArc">
            <a:avLst>
              <a:gd name="adj1" fmla="val 19460416"/>
              <a:gd name="adj2" fmla="val 416114"/>
              <a:gd name="adj3" fmla="val 30569"/>
            </a:avLst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4418AB1-5986-BA40-1CBA-959393230EF7}"/>
              </a:ext>
            </a:extLst>
          </p:cNvPr>
          <p:cNvSpPr txBox="1"/>
          <p:nvPr/>
        </p:nvSpPr>
        <p:spPr>
          <a:xfrm>
            <a:off x="4372344" y="1282215"/>
            <a:ext cx="75692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Demo Link &amp; GitHub</a:t>
            </a:r>
            <a:endParaRPr lang="en-GB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E41D189E-E7ED-CE69-8F02-CF6F801ACB1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4413" y="1777012"/>
            <a:ext cx="7485062" cy="193899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Live Website (GitHub Pages):</a:t>
            </a:r>
            <a:b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👉 </a:t>
            </a:r>
            <a:r>
              <a:rPr lang="en-US" b="1" dirty="0"/>
              <a:t> </a:t>
            </a:r>
            <a:r>
              <a:rPr lang="en-US" b="1" u="sng" dirty="0">
                <a:hlinkClick r:id="rId4"/>
              </a:rPr>
              <a:t>https://abduu-codes.github.io/Goupno3-car-rental-service/</a:t>
            </a:r>
            <a:endParaRPr lang="en-US" b="1" u="sng" dirty="0"/>
          </a:p>
          <a:p>
            <a:pPr algn="ctr"/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GitHub Repository:</a:t>
            </a:r>
            <a:b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👉 </a:t>
            </a: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  <a:hlinkClick r:id="rId5"/>
              </a:rPr>
              <a:t>https://github.com/abduu-codes/Goupno3-car-rental-service.gi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  <a:hlinkClick r:id="rId5"/>
              </a:rPr>
              <a:t>t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Code hosted publicly</a:t>
            </a:r>
          </a:p>
          <a:p>
            <a:pPr algn="ctr"/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Live deployment for real-time access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6032C983-7A58-CC2E-37FB-418935398C9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3169" y="849841"/>
            <a:ext cx="858033" cy="85803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FBB86E98-E710-294A-8F91-DE523CDAD3B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979112" y="1328485"/>
            <a:ext cx="808093" cy="808093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A0A82101-1DF0-1428-A437-A582BC61F0F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668044" y="2379812"/>
            <a:ext cx="1005388" cy="1005388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377E5A4D-6F00-FAA6-4D43-EDB6AD528DA4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668044" y="3852677"/>
            <a:ext cx="1005388" cy="1005388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E3D4E0D3-CC45-D457-5BEF-6647EB108BA6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716066" y="5026510"/>
            <a:ext cx="739272" cy="739272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EFB994A3-41A8-B158-19CB-710F98828C4B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0" y="5026509"/>
            <a:ext cx="1287655" cy="1287655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29958159-4929-9DB8-99F8-D33DFF4E3882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 rot="18718640">
            <a:off x="182730" y="3365924"/>
            <a:ext cx="1055797" cy="10557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0256125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339E95-B937-8C37-02DE-F418C5F5A2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4" descr="This may contain: an abstract red background with lines and stars">
            <a:extLst>
              <a:ext uri="{FF2B5EF4-FFF2-40B4-BE49-F238E27FC236}">
                <a16:creationId xmlns:a16="http://schemas.microsoft.com/office/drawing/2014/main" id="{D2680165-3972-8891-3B68-CDAD0AFA900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alphaModFix amt="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2628900"/>
            <a:ext cx="12192000" cy="12192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3" name="Circle: Hollow 22">
            <a:extLst>
              <a:ext uri="{FF2B5EF4-FFF2-40B4-BE49-F238E27FC236}">
                <a16:creationId xmlns:a16="http://schemas.microsoft.com/office/drawing/2014/main" id="{75E1EEBE-5CCE-9271-0526-75F04F1FCCEB}"/>
              </a:ext>
            </a:extLst>
          </p:cNvPr>
          <p:cNvSpPr/>
          <p:nvPr/>
        </p:nvSpPr>
        <p:spPr>
          <a:xfrm>
            <a:off x="-2376622" y="440054"/>
            <a:ext cx="6389370" cy="5977890"/>
          </a:xfrm>
          <a:prstGeom prst="donut">
            <a:avLst/>
          </a:prstGeom>
          <a:gradFill flip="none" rotWithShape="1">
            <a:gsLst>
              <a:gs pos="0">
                <a:schemeClr val="tx1">
                  <a:lumMod val="65000"/>
                  <a:lumOff val="35000"/>
                  <a:shade val="30000"/>
                  <a:satMod val="115000"/>
                </a:schemeClr>
              </a:gs>
              <a:gs pos="50000">
                <a:schemeClr val="tx1">
                  <a:lumMod val="65000"/>
                  <a:lumOff val="35000"/>
                  <a:shade val="67500"/>
                  <a:satMod val="115000"/>
                </a:schemeClr>
              </a:gs>
              <a:gs pos="100000">
                <a:schemeClr val="tx1">
                  <a:lumMod val="65000"/>
                  <a:lumOff val="35000"/>
                  <a:shade val="100000"/>
                  <a:satMod val="115000"/>
                </a:schemeClr>
              </a:gs>
            </a:gsLst>
            <a:lin ang="5400000" scaled="1"/>
            <a:tileRect/>
          </a:gra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tx1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8ED84EA-ED48-F44E-7116-66D93214E2F9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68670" y="-327668"/>
            <a:ext cx="12288228" cy="9212383"/>
          </a:xfrm>
          <a:prstGeom prst="rect">
            <a:avLst/>
          </a:prstGeom>
        </p:spPr>
      </p:pic>
      <p:sp>
        <p:nvSpPr>
          <p:cNvPr id="3" name="Block Arc 2">
            <a:extLst>
              <a:ext uri="{FF2B5EF4-FFF2-40B4-BE49-F238E27FC236}">
                <a16:creationId xmlns:a16="http://schemas.microsoft.com/office/drawing/2014/main" id="{B6360047-4A89-FA19-FB3F-A7D13347D2A0}"/>
              </a:ext>
            </a:extLst>
          </p:cNvPr>
          <p:cNvSpPr/>
          <p:nvPr/>
        </p:nvSpPr>
        <p:spPr>
          <a:xfrm rot="17113614">
            <a:off x="-2527300" y="177359"/>
            <a:ext cx="6679362" cy="6503280"/>
          </a:xfrm>
          <a:prstGeom prst="blockArc">
            <a:avLst>
              <a:gd name="adj1" fmla="val 19460416"/>
              <a:gd name="adj2" fmla="val 416114"/>
              <a:gd name="adj3" fmla="val 30569"/>
            </a:avLst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3924A72-3DF5-5C52-425E-BDB1684C62E6}"/>
              </a:ext>
            </a:extLst>
          </p:cNvPr>
          <p:cNvSpPr txBox="1"/>
          <p:nvPr/>
        </p:nvSpPr>
        <p:spPr>
          <a:xfrm>
            <a:off x="4372344" y="1282215"/>
            <a:ext cx="758884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Reflection</a:t>
            </a:r>
          </a:p>
        </p:txBody>
      </p:sp>
      <p:sp>
        <p:nvSpPr>
          <p:cNvPr id="7" name="Rectangle 1">
            <a:extLst>
              <a:ext uri="{FF2B5EF4-FFF2-40B4-BE49-F238E27FC236}">
                <a16:creationId xmlns:a16="http://schemas.microsoft.com/office/drawing/2014/main" id="{2B492778-F1F5-0203-F8E9-89D440D1396A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02182" y="1752853"/>
            <a:ext cx="6329170" cy="224676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Learned how </a:t>
            </a: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front-end design depends on accurate data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Understood importance of </a:t>
            </a: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Excel in business logic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Improved skills in: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Website structuring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Data-driven decision making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Team collaboration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E118CBD3-EB4D-EA79-6C30-22324128351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7251" y="440054"/>
            <a:ext cx="1458238" cy="1458238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05B1317B-041C-9573-8EE9-87FD1B040E1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50964" y="1169173"/>
            <a:ext cx="1166973" cy="1166973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DB1C5386-19B9-D81C-835D-B1F53AE103F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7984765">
            <a:off x="218243" y="2348338"/>
            <a:ext cx="1055797" cy="10557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6134395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A837B1-A040-0213-F0ED-34FF18C6EE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Picture 4" descr="This may contain: an abstract red background with lines and stars">
            <a:extLst>
              <a:ext uri="{FF2B5EF4-FFF2-40B4-BE49-F238E27FC236}">
                <a16:creationId xmlns:a16="http://schemas.microsoft.com/office/drawing/2014/main" id="{0F087FB1-D72E-A812-EC14-0CE77BEA1B0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alphaModFix amt="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2641600"/>
            <a:ext cx="12192000" cy="12192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7" name="Circle: Hollow 16">
            <a:extLst>
              <a:ext uri="{FF2B5EF4-FFF2-40B4-BE49-F238E27FC236}">
                <a16:creationId xmlns:a16="http://schemas.microsoft.com/office/drawing/2014/main" id="{8C760D3D-ACF3-8BD8-5048-CDC4CB447124}"/>
              </a:ext>
            </a:extLst>
          </p:cNvPr>
          <p:cNvSpPr/>
          <p:nvPr/>
        </p:nvSpPr>
        <p:spPr>
          <a:xfrm>
            <a:off x="-2376622" y="440054"/>
            <a:ext cx="6389370" cy="5977890"/>
          </a:xfrm>
          <a:prstGeom prst="donut">
            <a:avLst/>
          </a:prstGeom>
          <a:gradFill flip="none" rotWithShape="1">
            <a:gsLst>
              <a:gs pos="0">
                <a:schemeClr val="tx1">
                  <a:lumMod val="65000"/>
                  <a:lumOff val="35000"/>
                  <a:shade val="30000"/>
                  <a:satMod val="115000"/>
                </a:schemeClr>
              </a:gs>
              <a:gs pos="50000">
                <a:schemeClr val="tx1">
                  <a:lumMod val="65000"/>
                  <a:lumOff val="35000"/>
                  <a:shade val="67500"/>
                  <a:satMod val="115000"/>
                </a:schemeClr>
              </a:gs>
              <a:gs pos="100000">
                <a:schemeClr val="tx1">
                  <a:lumMod val="65000"/>
                  <a:lumOff val="35000"/>
                  <a:shade val="100000"/>
                  <a:satMod val="115000"/>
                </a:schemeClr>
              </a:gs>
            </a:gsLst>
            <a:lin ang="5400000" scaled="1"/>
            <a:tileRect/>
          </a:gra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tx1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B8CA18D-29FD-0626-5971-2C70FFA3B85E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68670" y="-327668"/>
            <a:ext cx="12288228" cy="9212383"/>
          </a:xfrm>
          <a:prstGeom prst="rect">
            <a:avLst/>
          </a:prstGeom>
        </p:spPr>
      </p:pic>
      <p:sp>
        <p:nvSpPr>
          <p:cNvPr id="3" name="Block Arc 2">
            <a:extLst>
              <a:ext uri="{FF2B5EF4-FFF2-40B4-BE49-F238E27FC236}">
                <a16:creationId xmlns:a16="http://schemas.microsoft.com/office/drawing/2014/main" id="{462EAD48-ADBA-94B9-143F-A6527B6969EC}"/>
              </a:ext>
            </a:extLst>
          </p:cNvPr>
          <p:cNvSpPr/>
          <p:nvPr/>
        </p:nvSpPr>
        <p:spPr>
          <a:xfrm rot="19489944">
            <a:off x="-2527300" y="177359"/>
            <a:ext cx="6679362" cy="6503280"/>
          </a:xfrm>
          <a:prstGeom prst="blockArc">
            <a:avLst>
              <a:gd name="adj1" fmla="val 19460416"/>
              <a:gd name="adj2" fmla="val 416114"/>
              <a:gd name="adj3" fmla="val 30569"/>
            </a:avLst>
          </a:prstGeom>
          <a:solidFill>
            <a:schemeClr val="bg2">
              <a:lumMod val="75000"/>
            </a:schemeClr>
          </a:solidFill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E8983EE-F63E-0D12-DD3D-01ED64AC211A}"/>
              </a:ext>
            </a:extLst>
          </p:cNvPr>
          <p:cNvSpPr txBox="1"/>
          <p:nvPr/>
        </p:nvSpPr>
        <p:spPr>
          <a:xfrm>
            <a:off x="4372344" y="1282215"/>
            <a:ext cx="758884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Conclusion</a:t>
            </a:r>
          </a:p>
        </p:txBody>
      </p:sp>
      <p:sp>
        <p:nvSpPr>
          <p:cNvPr id="8" name="Rectangle 1">
            <a:extLst>
              <a:ext uri="{FF2B5EF4-FFF2-40B4-BE49-F238E27FC236}">
                <a16:creationId xmlns:a16="http://schemas.microsoft.com/office/drawing/2014/main" id="{ACFC3E88-2DAE-1C9E-2796-19DB1395718C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31780" y="1742781"/>
            <a:ext cx="7869975" cy="163121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Successfully developed a </a:t>
            </a: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static car rental website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using HTML and CSS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Organized and analyzed rental data using </a:t>
            </a: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Microsoft Excel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Visualized key metrics through </a:t>
            </a: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charts for better understanding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Maintained consistency across </a:t>
            </a: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website, Excel, and documentation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Met all technical and academic requirements of the AICT Lab project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C51B4076-0D83-10DD-DA05-0189C82A4DD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3255" y="676058"/>
            <a:ext cx="986230" cy="98623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26FFF1A0-9703-8AB5-2ECA-1961D7B235F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76435" y="854756"/>
            <a:ext cx="1467598" cy="1467598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BCDE1243-218F-B6F2-8C53-D8E7C097905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10800000">
            <a:off x="510300" y="2456420"/>
            <a:ext cx="1055797" cy="10557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7390727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07A1EF-D2AA-BC0A-7700-A8845E4A5E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4" descr="This may contain: an abstract red background with lines and stars">
            <a:extLst>
              <a:ext uri="{FF2B5EF4-FFF2-40B4-BE49-F238E27FC236}">
                <a16:creationId xmlns:a16="http://schemas.microsoft.com/office/drawing/2014/main" id="{B24AC85F-2F5A-B08D-FA07-F4547DD8C1E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alphaModFix amt="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2667000"/>
            <a:ext cx="12192000" cy="12192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742D5924-BBA2-C4A9-9BE5-3044306AED42}"/>
              </a:ext>
            </a:extLst>
          </p:cNvPr>
          <p:cNvSpPr txBox="1"/>
          <p:nvPr/>
        </p:nvSpPr>
        <p:spPr>
          <a:xfrm>
            <a:off x="-93345" y="2159422"/>
            <a:ext cx="12378690" cy="25391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THANK YOU!</a:t>
            </a:r>
          </a:p>
          <a:p>
            <a:pPr lvl="4"/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DO YOU HAVE ANY QUESTION?</a:t>
            </a:r>
            <a:endParaRPr lang="en-GB" sz="4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99078DA-F0F2-4771-E7DD-CA32EA660D72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68670" y="-327668"/>
            <a:ext cx="12288228" cy="92123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119913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2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6" presetClass="entr" presetSubtype="2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0" dur="20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1349</TotalTime>
  <Words>547</Words>
  <Application>Microsoft Office PowerPoint</Application>
  <PresentationFormat>Widescreen</PresentationFormat>
  <Paragraphs>102</Paragraphs>
  <Slides>18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3" baseType="lpstr">
      <vt:lpstr>Arial</vt:lpstr>
      <vt:lpstr>Calibri</vt:lpstr>
      <vt:lpstr>Calibri Light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USER</dc:creator>
  <cp:lastModifiedBy>Muhammad Abdullah</cp:lastModifiedBy>
  <cp:revision>48</cp:revision>
  <dcterms:created xsi:type="dcterms:W3CDTF">2025-11-18T12:24:38Z</dcterms:created>
  <dcterms:modified xsi:type="dcterms:W3CDTF">2026-01-03T09:04:45Z</dcterms:modified>
</cp:coreProperties>
</file>